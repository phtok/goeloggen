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embedTrueType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0689336" cy="7562088"/>
  <p:notesSz cx="7562088" cy="10689336"/>
  <p:embeddedFontLst>
    <p:embeddedFont>
      <p:font typeface="Goetheanum Schrift Klar"/>
      <p:regular r:id="rId22"/>
    </p:embeddedFont>
    <p:embeddedFont>
      <p:font typeface="Goetheanum Schrift Laut"/>
      <p:regular r:id="rId23"/>
    </p:embeddedFont>
    <p:embeddedFont>
      <p:font typeface="Goetheanum Schrift Leise"/>
      <p:regular r:id="rId24"/>
    </p:embeddedFont>
    <p:embeddedFont>
      <p:font typeface="Goetheanum Icons"/>
      <p:regular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Ertrag</c:v>
                </c:pt>
              </c:strCache>
            </c:strRef>
          </c:tx>
          <c:spPr>
            <a:solidFill>
              <a:srgbClr val="005E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11.2</c:v>
                </c:pt>
                <c:pt idx="1">
                  <c:v>11.8</c:v>
                </c:pt>
                <c:pt idx="2">
                  <c:v>12.7</c:v>
                </c:pt>
                <c:pt idx="3">
                  <c:v>12.4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Aufwand</c:v>
                </c:pt>
              </c:strCache>
            </c:strRef>
          </c:tx>
          <c:spPr>
            <a:solidFill>
              <a:srgbClr val="EBB56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10.9</c:v>
                </c:pt>
                <c:pt idx="1">
                  <c:v>11.5</c:v>
                </c:pt>
                <c:pt idx="2">
                  <c:v>12.1</c:v>
                </c:pt>
                <c:pt idx="3">
                  <c:v>12.6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7480"/>
                </a:solidFill>
                <a:latin typeface="Goetheanum Schrift Kla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B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7480"/>
                </a:solidFill>
                <a:latin typeface="Goetheanum Schrift Kla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6B7480"/>
              </a:solidFill>
              <a:latin typeface="Goetheanum Schrift Klar"/>
              <a:cs typeface="Goetheanum Schrift Klar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htok.github.io/goeloggen/schriften.html" TargetMode="Externa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htok.github.io/goeloggen/schriften.html" TargetMode="Externa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phtok.github.io/goeloggen/assets/fonts/goetheanum/Beipackzettel-Goetheanum-Schriften.pdf" TargetMode="Externa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E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goetheanu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6344"/>
            <a:ext cx="1850284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02536" y="2487168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Titel der Präsentation</a:t>
            </a:r>
            <a:endParaRPr lang="en-US" sz="5000" dirty="0"/>
          </a:p>
        </p:txBody>
      </p:sp>
      <p:sp>
        <p:nvSpPr>
          <p:cNvPr id="4" name="Text 1"/>
          <p:cNvSpPr/>
          <p:nvPr/>
        </p:nvSpPr>
        <p:spPr>
          <a:xfrm>
            <a:off x="2002536" y="371246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FD7F0"/>
                </a:solidFill>
                <a:latin typeface="Goetheanum Schrift Leise" pitchFamily="34" charset="0"/>
                <a:ea typeface="Goetheanum Schrift Leise" pitchFamily="34" charset="-122"/>
                <a:cs typeface="Goetheanum Schrift Leise" pitchFamily="34" charset="-120"/>
              </a:rPr>
              <a:t>Untertitel oder Anlass in einem Satz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6675120"/>
            <a:ext cx="9592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CC3EC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Vorname Name · Bereich · 00.00.2026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goetheanum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088402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143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5EB8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Vorlage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1463040"/>
            <a:ext cx="9592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Fünf Grössen, eine Schrift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237744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5EB8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Plakat 50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002536" y="23774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Zuerst das Ganze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548640" y="3438144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5EB8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Überschrift 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002536" y="34381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Dann der tragende Gedanke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" y="41148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5EB8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Lead 18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002536" y="411480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Ein Vorspann sammelt das Wichtige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48640" y="464515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5EB8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Grundtext 13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002536" y="464515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Der Grundtext erzählt ruhig und genau.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508406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5EB8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Marginalie 9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002536" y="50840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Die Marginalie begleitet am Rand.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55778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5EB8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Dicke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002536" y="55778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oetheanum Schrift Leise" pitchFamily="34" charset="0"/>
                <a:ea typeface="Goetheanum Schrift Leise" pitchFamily="34" charset="-122"/>
                <a:cs typeface="Goetheanum Schrift Leise" pitchFamily="34" charset="-120"/>
              </a:rPr>
              <a:t>Leise dämpft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002536" y="58704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Klar erzählt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002536" y="61630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oetheanum Schrift Laut" pitchFamily="34" charset="0"/>
                <a:ea typeface="Goetheanum Schrift Laut" pitchFamily="34" charset="-122"/>
                <a:cs typeface="Goetheanum Schrift Laut" pitchFamily="34" charset="-120"/>
              </a:rPr>
              <a:t>Laut betont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671169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5EB8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Regel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002536" y="671169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Anführungen stehen in einfachen Guillemets: ‹so›.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48640" y="6995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Schriften installieren: </a:t>
            </a:r>
            <a:pPr indent="0" marL="0">
              <a:buNone/>
            </a:pPr>
            <a:r>
              <a:rPr lang="en-US" sz="900" u="sng" dirty="0">
                <a:solidFill>
                  <a:srgbClr val="005EB8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‹Download›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654296" y="6995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Titel der Präsentation · 00.00.2026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goetheanum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088402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143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5EB8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Vorlage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1463040"/>
            <a:ext cx="9592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Piktogramme aus der Hausschrift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480"/>
                </a:solidFill>
                <a:latin typeface="Goetheanum Schrift Leise" pitchFamily="34" charset="0"/>
                <a:ea typeface="Goetheanum Schrift Leise" pitchFamily="34" charset="-122"/>
                <a:cs typeface="Goetheanum Schrift Leise" pitchFamily="34" charset="-120"/>
              </a:rPr>
              <a:t>Schrift </a:t>
            </a:r>
            <a:pPr indent="0" marL="0">
              <a:buNone/>
            </a:pPr>
            <a:r>
              <a:rPr lang="en-US" sz="1800" dirty="0">
                <a:solidFill>
                  <a:srgbClr val="6B7480"/>
                </a:solidFill>
                <a:latin typeface="Goetheanum Schrift Laut" pitchFamily="34" charset="0"/>
                <a:ea typeface="Goetheanum Schrift Laut" pitchFamily="34" charset="-122"/>
                <a:cs typeface="Goetheanum Schrift Laut" pitchFamily="34" charset="-120"/>
              </a:rPr>
              <a:t>‹Goetheanum Icons›</a:t>
            </a:r>
            <a:pPr indent="0" marL="0">
              <a:buNone/>
            </a:pPr>
            <a:r>
              <a:rPr lang="en-US" sz="1800" dirty="0">
                <a:solidFill>
                  <a:srgbClr val="6B7480"/>
                </a:solidFill>
                <a:latin typeface="Goetheanum Schrift Leise" pitchFamily="34" charset="0"/>
                <a:ea typeface="Goetheanum Schrift Leise" pitchFamily="34" charset="-122"/>
                <a:cs typeface="Goetheanum Schrift Leise" pitchFamily="34" charset="-120"/>
              </a:rPr>
              <a:t> wählen, Buchstaben tippen.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31546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oetheanum Icons" pitchFamily="34" charset="0"/>
                <a:ea typeface="Goetheanum Icons" pitchFamily="34" charset="-122"/>
                <a:cs typeface="Goetheanum Icons" pitchFamily="34" charset="-120"/>
              </a:rPr>
              <a:t>g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48640" y="38404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EB8"/>
                </a:solidFill>
                <a:latin typeface="Goetheanum Schrift Laut" pitchFamily="34" charset="0"/>
                <a:ea typeface="Goetheanum Schrift Laut" pitchFamily="34" charset="-122"/>
                <a:cs typeface="Goetheanum Schrift Laut" pitchFamily="34" charset="-120"/>
              </a:rPr>
              <a:t>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75488" y="406908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WLAN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755648" y="31546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oetheanum Icons" pitchFamily="34" charset="0"/>
                <a:ea typeface="Goetheanum Icons" pitchFamily="34" charset="-122"/>
                <a:cs typeface="Goetheanum Icons" pitchFamily="34" charset="-120"/>
              </a:rPr>
              <a:t>a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1755648" y="38404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EB8"/>
                </a:solidFill>
                <a:latin typeface="Goetheanum Schrift Laut" pitchFamily="34" charset="0"/>
                <a:ea typeface="Goetheanum Schrift Laut" pitchFamily="34" charset="-122"/>
                <a:cs typeface="Goetheanum Schrift Laut" pitchFamily="34" charset="-120"/>
              </a:rPr>
              <a:t>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82496" y="406908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Lift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962656" y="31546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oetheanum Icons" pitchFamily="34" charset="0"/>
                <a:ea typeface="Goetheanum Icons" pitchFamily="34" charset="-122"/>
                <a:cs typeface="Goetheanum Icons" pitchFamily="34" charset="-120"/>
              </a:rPr>
              <a:t>s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2962656" y="38404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EB8"/>
                </a:solidFill>
                <a:latin typeface="Goetheanum Schrift Laut" pitchFamily="34" charset="0"/>
                <a:ea typeface="Goetheanum Schrift Laut" pitchFamily="34" charset="-122"/>
                <a:cs typeface="Goetheanum Schrift Laut" pitchFamily="34" charset="-120"/>
              </a:rPr>
              <a:t>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889504" y="406908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Treppe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169664" y="31546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oetheanum Icons" pitchFamily="34" charset="0"/>
                <a:ea typeface="Goetheanum Icons" pitchFamily="34" charset="-122"/>
                <a:cs typeface="Goetheanum Icons" pitchFamily="34" charset="-120"/>
              </a:rPr>
              <a:t>x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4169664" y="38404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EB8"/>
                </a:solidFill>
                <a:latin typeface="Goetheanum Schrift Laut" pitchFamily="34" charset="0"/>
                <a:ea typeface="Goetheanum Schrift Laut" pitchFamily="34" charset="-122"/>
                <a:cs typeface="Goetheanum Schrift Laut" pitchFamily="34" charset="-120"/>
              </a:rPr>
              <a:t>x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096512" y="406908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Barrierefrei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376672" y="31546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oetheanum Icons" pitchFamily="34" charset="0"/>
                <a:ea typeface="Goetheanum Icons" pitchFamily="34" charset="-122"/>
                <a:cs typeface="Goetheanum Icons" pitchFamily="34" charset="-120"/>
              </a:rPr>
              <a:t>e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5376672" y="38404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EB8"/>
                </a:solidFill>
                <a:latin typeface="Goetheanum Schrift Laut" pitchFamily="34" charset="0"/>
                <a:ea typeface="Goetheanum Schrift Laut" pitchFamily="34" charset="-122"/>
                <a:cs typeface="Goetheanum Schrift Laut" pitchFamily="34" charset="-120"/>
              </a:rPr>
              <a:t>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303520" y="406908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Eintritt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583680" y="31546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oetheanum Icons" pitchFamily="34" charset="0"/>
                <a:ea typeface="Goetheanum Icons" pitchFamily="34" charset="-122"/>
                <a:cs typeface="Goetheanum Icons" pitchFamily="34" charset="-120"/>
              </a:rPr>
              <a:t>v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6583680" y="38404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EB8"/>
                </a:solidFill>
                <a:latin typeface="Goetheanum Schrift Laut" pitchFamily="34" charset="0"/>
                <a:ea typeface="Goetheanum Schrift Laut" pitchFamily="34" charset="-122"/>
                <a:cs typeface="Goetheanum Schrift Laut" pitchFamily="34" charset="-120"/>
              </a:rPr>
              <a:t>v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510528" y="406908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WC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790688" y="31546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oetheanum Icons" pitchFamily="34" charset="0"/>
                <a:ea typeface="Goetheanum Icons" pitchFamily="34" charset="-122"/>
                <a:cs typeface="Goetheanum Icons" pitchFamily="34" charset="-120"/>
              </a:rPr>
              <a:t>k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7790688" y="38404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EB8"/>
                </a:solidFill>
                <a:latin typeface="Goetheanum Schrift Laut" pitchFamily="34" charset="0"/>
                <a:ea typeface="Goetheanum Schrift Laut" pitchFamily="34" charset="-122"/>
                <a:cs typeface="Goetheanum Schrift Laut" pitchFamily="34" charset="-120"/>
              </a:rPr>
              <a:t>k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717536" y="406908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Abfall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997696" y="31546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oetheanum Icons" pitchFamily="34" charset="0"/>
                <a:ea typeface="Goetheanum Icons" pitchFamily="34" charset="-122"/>
                <a:cs typeface="Goetheanum Icons" pitchFamily="34" charset="-120"/>
              </a:rPr>
              <a:t>h</a:t>
            </a:r>
            <a:endParaRPr lang="en-US" sz="3200" dirty="0"/>
          </a:p>
        </p:txBody>
      </p:sp>
      <p:sp>
        <p:nvSpPr>
          <p:cNvPr id="28" name="Text 25"/>
          <p:cNvSpPr/>
          <p:nvPr/>
        </p:nvSpPr>
        <p:spPr>
          <a:xfrm>
            <a:off x="8997696" y="38404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EB8"/>
                </a:solidFill>
                <a:latin typeface="Goetheanum Schrift Laut" pitchFamily="34" charset="0"/>
                <a:ea typeface="Goetheanum Schrift Laut" pitchFamily="34" charset="-122"/>
                <a:cs typeface="Goetheanum Schrift Laut" pitchFamily="34" charset="-120"/>
              </a:rPr>
              <a:t>h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924544" y="406908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Bio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48640" y="47548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oetheanum Icons" pitchFamily="34" charset="0"/>
                <a:ea typeface="Goetheanum Icons" pitchFamily="34" charset="-122"/>
                <a:cs typeface="Goetheanum Icons" pitchFamily="34" charset="-120"/>
              </a:rPr>
              <a:t>w</a:t>
            </a:r>
            <a:endParaRPr lang="en-US" sz="3200" dirty="0"/>
          </a:p>
        </p:txBody>
      </p:sp>
      <p:sp>
        <p:nvSpPr>
          <p:cNvPr id="31" name="Text 28"/>
          <p:cNvSpPr/>
          <p:nvPr/>
        </p:nvSpPr>
        <p:spPr>
          <a:xfrm>
            <a:off x="548640" y="54406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EB8"/>
                </a:solidFill>
                <a:latin typeface="Goetheanum Schrift Laut" pitchFamily="34" charset="0"/>
                <a:ea typeface="Goetheanum Schrift Laut" pitchFamily="34" charset="-122"/>
                <a:cs typeface="Goetheanum Schrift Laut" pitchFamily="34" charset="-120"/>
              </a:rPr>
              <a:t>w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75488" y="566928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Auge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755648" y="47548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oetheanum Icons" pitchFamily="34" charset="0"/>
                <a:ea typeface="Goetheanum Icons" pitchFamily="34" charset="-122"/>
                <a:cs typeface="Goetheanum Icons" pitchFamily="34" charset="-120"/>
              </a:rPr>
              <a:t>q</a:t>
            </a:r>
            <a:endParaRPr lang="en-US" sz="3200" dirty="0"/>
          </a:p>
        </p:txBody>
      </p:sp>
      <p:sp>
        <p:nvSpPr>
          <p:cNvPr id="34" name="Text 31"/>
          <p:cNvSpPr/>
          <p:nvPr/>
        </p:nvSpPr>
        <p:spPr>
          <a:xfrm>
            <a:off x="1755648" y="54406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EB8"/>
                </a:solidFill>
                <a:latin typeface="Goetheanum Schrift Laut" pitchFamily="34" charset="0"/>
                <a:ea typeface="Goetheanum Schrift Laut" pitchFamily="34" charset="-122"/>
                <a:cs typeface="Goetheanum Schrift Laut" pitchFamily="34" charset="-120"/>
              </a:rPr>
              <a:t>q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682496" y="566928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Hand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2962656" y="47548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oetheanum Icons" pitchFamily="34" charset="0"/>
                <a:ea typeface="Goetheanum Icons" pitchFamily="34" charset="-122"/>
                <a:cs typeface="Goetheanum Icons" pitchFamily="34" charset="-120"/>
              </a:rPr>
              <a:t>y</a:t>
            </a:r>
            <a:endParaRPr lang="en-US" sz="3200" dirty="0"/>
          </a:p>
        </p:txBody>
      </p:sp>
      <p:sp>
        <p:nvSpPr>
          <p:cNvPr id="37" name="Text 34"/>
          <p:cNvSpPr/>
          <p:nvPr/>
        </p:nvSpPr>
        <p:spPr>
          <a:xfrm>
            <a:off x="2962656" y="54406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EB8"/>
                </a:solidFill>
                <a:latin typeface="Goetheanum Schrift Laut" pitchFamily="34" charset="0"/>
                <a:ea typeface="Goetheanum Schrift Laut" pitchFamily="34" charset="-122"/>
                <a:cs typeface="Goetheanum Schrift Laut" pitchFamily="34" charset="-120"/>
              </a:rPr>
              <a:t>y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2889504" y="566928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Person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169664" y="47548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oetheanum Icons" pitchFamily="34" charset="0"/>
                <a:ea typeface="Goetheanum Icons" pitchFamily="34" charset="-122"/>
                <a:cs typeface="Goetheanum Icons" pitchFamily="34" charset="-120"/>
              </a:rPr>
              <a:t>r</a:t>
            </a:r>
            <a:endParaRPr lang="en-US" sz="3200" dirty="0"/>
          </a:p>
        </p:txBody>
      </p:sp>
      <p:sp>
        <p:nvSpPr>
          <p:cNvPr id="40" name="Text 37"/>
          <p:cNvSpPr/>
          <p:nvPr/>
        </p:nvSpPr>
        <p:spPr>
          <a:xfrm>
            <a:off x="4169664" y="54406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EB8"/>
                </a:solidFill>
                <a:latin typeface="Goetheanum Schrift Laut" pitchFamily="34" charset="0"/>
                <a:ea typeface="Goetheanum Schrift Laut" pitchFamily="34" charset="-122"/>
                <a:cs typeface="Goetheanum Schrift Laut" pitchFamily="34" charset="-120"/>
              </a:rPr>
              <a:t>r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4096512" y="566928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Hunde anleinen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5376672" y="47548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oetheanum Icons" pitchFamily="34" charset="0"/>
                <a:ea typeface="Goetheanum Icons" pitchFamily="34" charset="-122"/>
                <a:cs typeface="Goetheanum Icons" pitchFamily="34" charset="-120"/>
              </a:rPr>
              <a:t>z</a:t>
            </a:r>
            <a:endParaRPr lang="en-US" sz="3200" dirty="0"/>
          </a:p>
        </p:txBody>
      </p:sp>
      <p:sp>
        <p:nvSpPr>
          <p:cNvPr id="43" name="Text 40"/>
          <p:cNvSpPr/>
          <p:nvPr/>
        </p:nvSpPr>
        <p:spPr>
          <a:xfrm>
            <a:off x="5376672" y="54406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EB8"/>
                </a:solidFill>
                <a:latin typeface="Goetheanum Schrift Laut" pitchFamily="34" charset="0"/>
                <a:ea typeface="Goetheanum Schrift Laut" pitchFamily="34" charset="-122"/>
                <a:cs typeface="Goetheanum Schrift Laut" pitchFamily="34" charset="-120"/>
              </a:rPr>
              <a:t>z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5303520" y="566928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Keine Fotos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6583680" y="47548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oetheanum Icons" pitchFamily="34" charset="0"/>
                <a:ea typeface="Goetheanum Icons" pitchFamily="34" charset="-122"/>
                <a:cs typeface="Goetheanum Icons" pitchFamily="34" charset="-120"/>
              </a:rPr>
              <a:t>t</a:t>
            </a:r>
            <a:endParaRPr lang="en-US" sz="3200" dirty="0"/>
          </a:p>
        </p:txBody>
      </p:sp>
      <p:sp>
        <p:nvSpPr>
          <p:cNvPr id="46" name="Text 43"/>
          <p:cNvSpPr/>
          <p:nvPr/>
        </p:nvSpPr>
        <p:spPr>
          <a:xfrm>
            <a:off x="6583680" y="54406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EB8"/>
                </a:solidFill>
                <a:latin typeface="Goetheanum Schrift Laut" pitchFamily="34" charset="0"/>
                <a:ea typeface="Goetheanum Schrift Laut" pitchFamily="34" charset="-122"/>
                <a:cs typeface="Goetheanum Schrift Laut" pitchFamily="34" charset="-120"/>
              </a:rPr>
              <a:t>t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510528" y="566928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Keine Hunde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7790688" y="47548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oetheanum Icons" pitchFamily="34" charset="0"/>
                <a:ea typeface="Goetheanum Icons" pitchFamily="34" charset="-122"/>
                <a:cs typeface="Goetheanum Icons" pitchFamily="34" charset="-120"/>
              </a:rPr>
              <a:t>u</a:t>
            </a:r>
            <a:endParaRPr lang="en-US" sz="3200" dirty="0"/>
          </a:p>
        </p:txBody>
      </p:sp>
      <p:sp>
        <p:nvSpPr>
          <p:cNvPr id="49" name="Text 46"/>
          <p:cNvSpPr/>
          <p:nvPr/>
        </p:nvSpPr>
        <p:spPr>
          <a:xfrm>
            <a:off x="7790688" y="54406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EB8"/>
                </a:solidFill>
                <a:latin typeface="Goetheanum Schrift Laut" pitchFamily="34" charset="0"/>
                <a:ea typeface="Goetheanum Schrift Laut" pitchFamily="34" charset="-122"/>
                <a:cs typeface="Goetheanum Schrift Laut" pitchFamily="34" charset="-120"/>
              </a:rPr>
              <a:t>u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7717536" y="566928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Nicht essen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8997696" y="47548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oetheanum Icons" pitchFamily="34" charset="0"/>
                <a:ea typeface="Goetheanum Icons" pitchFamily="34" charset="-122"/>
                <a:cs typeface="Goetheanum Icons" pitchFamily="34" charset="-120"/>
              </a:rPr>
              <a:t>j</a:t>
            </a:r>
            <a:endParaRPr lang="en-US" sz="3200" dirty="0"/>
          </a:p>
        </p:txBody>
      </p:sp>
      <p:sp>
        <p:nvSpPr>
          <p:cNvPr id="52" name="Text 49"/>
          <p:cNvSpPr/>
          <p:nvPr/>
        </p:nvSpPr>
        <p:spPr>
          <a:xfrm>
            <a:off x="8997696" y="54406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EB8"/>
                </a:solidFill>
                <a:latin typeface="Goetheanum Schrift Laut" pitchFamily="34" charset="0"/>
                <a:ea typeface="Goetheanum Schrift Laut" pitchFamily="34" charset="-122"/>
                <a:cs typeface="Goetheanum Schrift Laut" pitchFamily="34" charset="-120"/>
              </a:rPr>
              <a:t>j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8924544" y="566928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Papier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Alle Zeichen, Belegung und Installation: </a:t>
            </a:r>
            <a:pPr indent="0" marL="0">
              <a:buNone/>
            </a:pPr>
            <a:r>
              <a:rPr lang="en-US" sz="1300" u="sng" dirty="0">
                <a:solidFill>
                  <a:srgbClr val="005EB8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‹Schriften und Piktogramme›</a:t>
            </a:r>
            <a:endParaRPr lang="en-US" sz="1300" dirty="0"/>
          </a:p>
        </p:txBody>
      </p:sp>
      <p:sp>
        <p:nvSpPr>
          <p:cNvPr id="55" name="Text 52"/>
          <p:cNvSpPr/>
          <p:nvPr/>
        </p:nvSpPr>
        <p:spPr>
          <a:xfrm>
            <a:off x="4654296" y="6995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Titel der Präsentation · 00.00.2026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goetheanum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088402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60320" y="1143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5EB8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Agenda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2560320" y="1463040"/>
            <a:ext cx="7580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Worüber wir sprechen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2560320" y="278892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5EB8"/>
                </a:solidFill>
                <a:latin typeface="Goetheanum Schrift Leise" pitchFamily="34" charset="0"/>
                <a:ea typeface="Goetheanum Schrift Leise" pitchFamily="34" charset="-122"/>
                <a:cs typeface="Goetheanum Schrift Leise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3566160" y="2788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oetheanum Schrift Laut" pitchFamily="34" charset="0"/>
                <a:ea typeface="Goetheanum Schrift Laut" pitchFamily="34" charset="-122"/>
                <a:cs typeface="Goetheanum Schrift Laut" pitchFamily="34" charset="-120"/>
              </a:rPr>
              <a:t>Rückblick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480"/>
                </a:solidFill>
                <a:latin typeface="Goetheanum Schrift Leise" pitchFamily="34" charset="0"/>
                <a:ea typeface="Goetheanum Schrift Leise" pitchFamily="34" charset="-122"/>
                <a:cs typeface="Goetheanum Schrift Leise" pitchFamily="34" charset="-120"/>
              </a:rPr>
              <a:t>Was das Jahr geprägt hat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560320" y="374904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5EB8"/>
                </a:solidFill>
                <a:latin typeface="Goetheanum Schrift Leise" pitchFamily="34" charset="0"/>
                <a:ea typeface="Goetheanum Schrift Leise" pitchFamily="34" charset="-122"/>
                <a:cs typeface="Goetheanum Schrift Leise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566160" y="37490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oetheanum Schrift Laut" pitchFamily="34" charset="0"/>
                <a:ea typeface="Goetheanum Schrift Laut" pitchFamily="34" charset="-122"/>
                <a:cs typeface="Goetheanum Schrift Laut" pitchFamily="34" charset="-120"/>
              </a:rPr>
              <a:t>Zahlen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480"/>
                </a:solidFill>
                <a:latin typeface="Goetheanum Schrift Leise" pitchFamily="34" charset="0"/>
                <a:ea typeface="Goetheanum Schrift Leise" pitchFamily="34" charset="-122"/>
                <a:cs typeface="Goetheanum Schrift Leise" pitchFamily="34" charset="-120"/>
              </a:rPr>
              <a:t>Ergebnis, Bilanz, Entwicklung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560320" y="47091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5EB8"/>
                </a:solidFill>
                <a:latin typeface="Goetheanum Schrift Leise" pitchFamily="34" charset="0"/>
                <a:ea typeface="Goetheanum Schrift Leise" pitchFamily="34" charset="-122"/>
                <a:cs typeface="Goetheanum Schrift Leise" pitchFamily="34" charset="-120"/>
              </a:rPr>
              <a:t>03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566160" y="47091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oetheanum Schrift Laut" pitchFamily="34" charset="0"/>
                <a:ea typeface="Goetheanum Schrift Laut" pitchFamily="34" charset="-122"/>
                <a:cs typeface="Goetheanum Schrift Laut" pitchFamily="34" charset="-120"/>
              </a:rPr>
              <a:t>Einordnung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480"/>
                </a:solidFill>
                <a:latin typeface="Goetheanum Schrift Leise" pitchFamily="34" charset="0"/>
                <a:ea typeface="Goetheanum Schrift Leise" pitchFamily="34" charset="-122"/>
                <a:cs typeface="Goetheanum Schrift Leise" pitchFamily="34" charset="-120"/>
              </a:rPr>
              <a:t>Was die Zahlen bedeuten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560320" y="566928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5EB8"/>
                </a:solidFill>
                <a:latin typeface="Goetheanum Schrift Leise" pitchFamily="34" charset="0"/>
                <a:ea typeface="Goetheanum Schrift Leise" pitchFamily="34" charset="-122"/>
                <a:cs typeface="Goetheanum Schrift Leise" pitchFamily="34" charset="-120"/>
              </a:rPr>
              <a:t>04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3566160" y="56692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oetheanum Schrift Laut" pitchFamily="34" charset="0"/>
                <a:ea typeface="Goetheanum Schrift Laut" pitchFamily="34" charset="-122"/>
                <a:cs typeface="Goetheanum Schrift Laut" pitchFamily="34" charset="-120"/>
              </a:rPr>
              <a:t>Ausblick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480"/>
                </a:solidFill>
                <a:latin typeface="Goetheanum Schrift Leise" pitchFamily="34" charset="0"/>
                <a:ea typeface="Goetheanum Schrift Leise" pitchFamily="34" charset="-122"/>
                <a:cs typeface="Goetheanum Schrift Leise" pitchFamily="34" charset="-120"/>
              </a:rPr>
              <a:t>Budget und nächste Schritte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654296" y="6995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Titel der Präsentation · 00.00.2026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5E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goetheanu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088402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81528" y="18288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4D90D6"/>
                </a:solidFill>
                <a:latin typeface="Goetheanum Schrift Leise" pitchFamily="34" charset="0"/>
                <a:ea typeface="Goetheanum Schrift Leise" pitchFamily="34" charset="-122"/>
                <a:cs typeface="Goetheanum Schrift Leise" pitchFamily="34" charset="-120"/>
              </a:rPr>
              <a:t>01</a:t>
            </a:r>
            <a:endParaRPr lang="en-US" sz="5000" dirty="0"/>
          </a:p>
        </p:txBody>
      </p:sp>
      <p:sp>
        <p:nvSpPr>
          <p:cNvPr id="4" name="Text 1"/>
          <p:cNvSpPr/>
          <p:nvPr/>
        </p:nvSpPr>
        <p:spPr>
          <a:xfrm>
            <a:off x="3081528" y="3383280"/>
            <a:ext cx="7059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Titel des Kapitels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081528" y="41148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7F0"/>
                </a:solidFill>
                <a:latin typeface="Goetheanum Schrift Leise" pitchFamily="34" charset="0"/>
                <a:ea typeface="Goetheanum Schrift Leise" pitchFamily="34" charset="-122"/>
                <a:cs typeface="Goetheanum Schrift Leise" pitchFamily="34" charset="-120"/>
              </a:rPr>
              <a:t>Ein Satz, der das Kapitel öffnet.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654296" y="6995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C3EC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Titel der Präsentation · 00.00.2026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goetheanum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088402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143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5EB8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Kapitel 01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1463040"/>
            <a:ext cx="9592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Folientitel in Klar 26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233172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6B7480"/>
                </a:solidFill>
                <a:latin typeface="Goetheanum Schrift Leise" pitchFamily="34" charset="0"/>
                <a:ea typeface="Goetheanum Schrift Leise" pitchFamily="34" charset="-122"/>
                <a:cs typeface="Goetheanum Schrift Leise" pitchFamily="34" charset="-120"/>
              </a:rPr>
              <a:t>Der Vorspann steht in Leise 18.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6B7480"/>
                </a:solidFill>
                <a:latin typeface="Goetheanum Schrift Leise" pitchFamily="34" charset="0"/>
                <a:ea typeface="Goetheanum Schrift Leise" pitchFamily="34" charset="-122"/>
                <a:cs typeface="Goetheanum Schrift Leise" pitchFamily="34" charset="-120"/>
              </a:rPr>
              <a:t>Er fasst die Folie in zwei Zeilen.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342900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Fliesstext steht in Klar 13, linksbündig.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Zeilen bleiben kurz: sechs bis sieben Worte.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Aufzählungen nur, wenn wirklich gezählt wird: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Erster Punkt, knapp formuliert</a:t>
            </a:r>
            <a:endParaRPr lang="en-US" sz="13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Zweiter Punkt, ohne Schachtelung</a:t>
            </a:r>
            <a:endParaRPr lang="en-US" sz="1300" dirty="0"/>
          </a:p>
          <a:p>
            <a:pPr marL="177800" indent="-177800">
              <a:lnSpc>
                <a:spcPct val="125000"/>
              </a:lnSpc>
              <a:buSzPct val="100000"/>
              <a:buChar char="–"/>
            </a:pPr>
            <a:r>
              <a:rPr lang="en-US" sz="13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Dritter Punkt, höchstens fünf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126480" y="342900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EEF4FB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0" y="37033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005EB8"/>
                </a:solidFill>
                <a:latin typeface="Goetheanum Schrift Laut" pitchFamily="34" charset="0"/>
                <a:ea typeface="Goetheanum Schrift Laut" pitchFamily="34" charset="-122"/>
                <a:cs typeface="Goetheanum Schrift Laut" pitchFamily="34" charset="-120"/>
              </a:rPr>
              <a:t>Merkkasten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Eine Kernaussage, die bleiben soll.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Hervorgehoben im Blau-Tint,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betont allein durch die Fette.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654296" y="6995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Titel der Präsentation · 00.00.2026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goetheanum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088402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143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5EB8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Kapitel 01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1463040"/>
            <a:ext cx="9592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Zwei Spalten, ein Gedanke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2560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5EB8"/>
                </a:solidFill>
                <a:latin typeface="Goetheanum Schrift Laut" pitchFamily="34" charset="0"/>
                <a:ea typeface="Goetheanum Schrift Laut" pitchFamily="34" charset="-122"/>
                <a:cs typeface="Goetheanum Schrift Laut" pitchFamily="34" charset="-120"/>
              </a:rPr>
              <a:t>Heute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29718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Beschreibung des Ist-Zustands.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Beide Spalten beginnen oben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auf derselben Höhe.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577840" y="2560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5EB8"/>
                </a:solidFill>
                <a:latin typeface="Goetheanum Schrift Laut" pitchFamily="34" charset="0"/>
                <a:ea typeface="Goetheanum Schrift Laut" pitchFamily="34" charset="-122"/>
                <a:cs typeface="Goetheanum Schrift Laut" pitchFamily="34" charset="-120"/>
              </a:rPr>
              <a:t>Morgen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577840" y="29718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Beschreibung des Ziel-Zustands.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Zwischentitel in Laut 13,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der Text in Klar 13.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5120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480"/>
                </a:solidFill>
                <a:latin typeface="Goetheanum Schrift Leise" pitchFamily="34" charset="0"/>
                <a:ea typeface="Goetheanum Schrift Leise" pitchFamily="34" charset="-122"/>
                <a:cs typeface="Goetheanum Schrift Leise" pitchFamily="34" charset="-120"/>
              </a:rPr>
              <a:t>Fazit in einem Satz, gesetzt in Leise 18.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654296" y="6995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Titel der Präsentation · 00.00.2026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to-bau-vo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995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Bildlegende: Ort, Anlass, Fotografie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654296" y="6995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Titel der Präsentation · 00.00.2026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goetheanum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088402" cy="182880"/>
          </a:xfrm>
          <a:prstGeom prst="rect">
            <a:avLst/>
          </a:prstGeom>
        </p:spPr>
      </p:pic>
      <p:pic>
        <p:nvPicPr>
          <p:cNvPr id="3" name="Image 1" descr="foto-buehne-hal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0"/>
            <a:ext cx="5020056" cy="75620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5EB8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Kapitel 01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48640" y="14630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Bild und Text,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halb und halb</a:t>
            </a:r>
            <a:endParaRPr lang="en-US" sz="2600" dirty="0"/>
          </a:p>
        </p:txBody>
      </p:sp>
      <p:sp>
        <p:nvSpPr>
          <p:cNvPr id="6" name="Text 2"/>
          <p:cNvSpPr/>
          <p:nvPr/>
        </p:nvSpPr>
        <p:spPr>
          <a:xfrm>
            <a:off x="548640" y="283464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Das Bild läuft randlos bis zur Kante.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Der Text behält seine Spaltenbreite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und seine Ruhe.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48640" y="6995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Bildlegende: Ort, Anlass, Fotografie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goetheanum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088402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143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5EB8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Zahlen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1463040"/>
            <a:ext cx="9592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Das Jahr in vier Kennzahlen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2743200"/>
            <a:ext cx="2240280" cy="1920240"/>
          </a:xfrm>
          <a:prstGeom prst="roundRect">
            <a:avLst>
              <a:gd name="adj" fmla="val 3810"/>
            </a:avLst>
          </a:prstGeom>
          <a:solidFill>
            <a:srgbClr val="EEF4FB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3154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5EB8"/>
                </a:solidFill>
                <a:latin typeface="Goetheanum Schrift Laut" pitchFamily="34" charset="0"/>
                <a:ea typeface="Goetheanum Schrift Laut" pitchFamily="34" charset="-122"/>
                <a:cs typeface="Goetheanum Schrift Laut" pitchFamily="34" charset="-120"/>
              </a:rPr>
              <a:t>12,4 Mio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77240" y="3794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Goetheanum Schrift Leise" pitchFamily="34" charset="0"/>
                <a:ea typeface="Goetheanum Schrift Leise" pitchFamily="34" charset="-122"/>
                <a:cs typeface="Goetheanum Schrift Leise" pitchFamily="34" charset="-120"/>
              </a:rPr>
              <a:t>Ertrag CHF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999232" y="2743200"/>
            <a:ext cx="2240280" cy="1920240"/>
          </a:xfrm>
          <a:prstGeom prst="roundRect">
            <a:avLst>
              <a:gd name="adj" fmla="val 3810"/>
            </a:avLst>
          </a:prstGeom>
          <a:solidFill>
            <a:srgbClr val="EEF4FB"/>
          </a:solidFill>
          <a:ln/>
        </p:spPr>
      </p:sp>
      <p:sp>
        <p:nvSpPr>
          <p:cNvPr id="9" name="Text 6"/>
          <p:cNvSpPr/>
          <p:nvPr/>
        </p:nvSpPr>
        <p:spPr>
          <a:xfrm>
            <a:off x="3227832" y="3154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Goetheanum Schrift Laut" pitchFamily="34" charset="0"/>
                <a:ea typeface="Goetheanum Schrift Laut" pitchFamily="34" charset="-122"/>
                <a:cs typeface="Goetheanum Schrift Laut" pitchFamily="34" charset="-120"/>
              </a:rPr>
              <a:t>–2,1 %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227832" y="3794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Goetheanum Schrift Leise" pitchFamily="34" charset="0"/>
                <a:ea typeface="Goetheanum Schrift Leise" pitchFamily="34" charset="-122"/>
                <a:cs typeface="Goetheanum Schrift Leise" pitchFamily="34" charset="-120"/>
              </a:rPr>
              <a:t>zum Vorjahr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49824" y="2743200"/>
            <a:ext cx="2240280" cy="1920240"/>
          </a:xfrm>
          <a:prstGeom prst="roundRect">
            <a:avLst>
              <a:gd name="adj" fmla="val 3810"/>
            </a:avLst>
          </a:prstGeom>
          <a:solidFill>
            <a:srgbClr val="EEF4FB"/>
          </a:solidFill>
          <a:ln/>
        </p:spPr>
      </p:sp>
      <p:sp>
        <p:nvSpPr>
          <p:cNvPr id="12" name="Text 9"/>
          <p:cNvSpPr/>
          <p:nvPr/>
        </p:nvSpPr>
        <p:spPr>
          <a:xfrm>
            <a:off x="5678424" y="3154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5EB8"/>
                </a:solidFill>
                <a:latin typeface="Goetheanum Schrift Laut" pitchFamily="34" charset="0"/>
                <a:ea typeface="Goetheanum Schrift Laut" pitchFamily="34" charset="-122"/>
                <a:cs typeface="Goetheanum Schrift Laut" pitchFamily="34" charset="-120"/>
              </a:rPr>
              <a:t>86 %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678424" y="3794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Goetheanum Schrift Leise" pitchFamily="34" charset="0"/>
                <a:ea typeface="Goetheanum Schrift Leise" pitchFamily="34" charset="-122"/>
                <a:cs typeface="Goetheanum Schrift Leise" pitchFamily="34" charset="-120"/>
              </a:rPr>
              <a:t>Eigenfinanzierung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900416" y="2743200"/>
            <a:ext cx="2240280" cy="1920240"/>
          </a:xfrm>
          <a:prstGeom prst="roundRect">
            <a:avLst>
              <a:gd name="adj" fmla="val 3810"/>
            </a:avLst>
          </a:prstGeom>
          <a:solidFill>
            <a:srgbClr val="EEF4FB"/>
          </a:solidFill>
          <a:ln/>
        </p:spPr>
      </p:sp>
      <p:sp>
        <p:nvSpPr>
          <p:cNvPr id="15" name="Text 12"/>
          <p:cNvSpPr/>
          <p:nvPr/>
        </p:nvSpPr>
        <p:spPr>
          <a:xfrm>
            <a:off x="8129016" y="3154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BB565"/>
                </a:solidFill>
                <a:latin typeface="Goetheanum Schrift Laut" pitchFamily="34" charset="0"/>
                <a:ea typeface="Goetheanum Schrift Laut" pitchFamily="34" charset="-122"/>
                <a:cs typeface="Goetheanum Schrift Laut" pitchFamily="34" charset="-120"/>
              </a:rPr>
              <a:t>3,2 Mio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129016" y="3794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Goetheanum Schrift Leise" pitchFamily="34" charset="0"/>
                <a:ea typeface="Goetheanum Schrift Leise" pitchFamily="34" charset="-122"/>
                <a:cs typeface="Goetheanum Schrift Leise" pitchFamily="34" charset="-120"/>
              </a:rPr>
              <a:t>Spenden CHF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8640" y="5074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Goetheanum Schrift Leise" pitchFamily="34" charset="0"/>
                <a:ea typeface="Goetheanum Schrift Leise" pitchFamily="34" charset="-122"/>
                <a:cs typeface="Goetheanum Schrift Leise" pitchFamily="34" charset="-120"/>
              </a:rPr>
              <a:t>Musterzahlen, beim Ausfüllen ersetzen.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654296" y="6995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Titel der Präsentation · 00.00.2026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goetheanum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088402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143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5EB8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Zahlen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1463040"/>
            <a:ext cx="9592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Entwicklung über vier Jahre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468880"/>
          <a:ext cx="62179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7223760" y="269748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005EB8"/>
                </a:solidFill>
                <a:latin typeface="Goetheanum Schrift Laut" pitchFamily="34" charset="0"/>
                <a:ea typeface="Goetheanum Schrift Laut" pitchFamily="34" charset="-122"/>
                <a:cs typeface="Goetheanum Schrift Laut" pitchFamily="34" charset="-120"/>
              </a:rPr>
              <a:t>Lesart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Rechts steht die Deutung: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ein bis zwei Sätze dazu,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was die Kurve erzählt.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48640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Angaben in Mio CHF, Musterzahlen.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4654296" y="6995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Titel der Präsentation · 00.00.2026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goetheanum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088402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143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5EB8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Zahlen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1463040"/>
            <a:ext cx="9592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Ergebnis nach Bereichen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60320"/>
          <a:ext cx="9592056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1700784"/>
                <a:gridCol w="1700784"/>
                <a:gridCol w="170992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Goetheanum Schrift Laut" pitchFamily="34" charset="0"/>
                          <a:ea typeface="Goetheanum Schrift Laut" pitchFamily="34" charset="-122"/>
                          <a:cs typeface="Goetheanum Schrift Laut" pitchFamily="34" charset="-120"/>
                        </a:rPr>
                        <a:t>Bereich</a:t>
                      </a:r>
                      <a:endParaRPr lang="en-US" sz="1300" dirty="0">
                        <a:latin typeface="Goetheanum Schrift Laut" charset="0"/>
                        <a:ea typeface="Goetheanum Schrift Laut" charset="0"/>
                        <a:cs typeface="Goetheanum Schrift Laut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Goetheanum Schrift Laut" pitchFamily="34" charset="0"/>
                          <a:ea typeface="Goetheanum Schrift Laut" pitchFamily="34" charset="-122"/>
                          <a:cs typeface="Goetheanum Schrift Laut" pitchFamily="34" charset="-120"/>
                        </a:rPr>
                        <a:t>2025</a:t>
                      </a:r>
                      <a:endParaRPr lang="en-US" sz="1300" dirty="0">
                        <a:latin typeface="Goetheanum Schrift Laut" charset="0"/>
                        <a:ea typeface="Goetheanum Schrift Laut" charset="0"/>
                        <a:cs typeface="Goetheanum Schrift Laut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Goetheanum Schrift Laut" pitchFamily="34" charset="0"/>
                          <a:ea typeface="Goetheanum Schrift Laut" pitchFamily="34" charset="-122"/>
                          <a:cs typeface="Goetheanum Schrift Laut" pitchFamily="34" charset="-120"/>
                        </a:rPr>
                        <a:t>2026</a:t>
                      </a:r>
                      <a:endParaRPr lang="en-US" sz="1300" dirty="0">
                        <a:latin typeface="Goetheanum Schrift Laut" charset="0"/>
                        <a:ea typeface="Goetheanum Schrift Laut" charset="0"/>
                        <a:cs typeface="Goetheanum Schrift Laut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Goetheanum Schrift Laut" pitchFamily="34" charset="0"/>
                          <a:ea typeface="Goetheanum Schrift Laut" pitchFamily="34" charset="-122"/>
                          <a:cs typeface="Goetheanum Schrift Laut" pitchFamily="34" charset="-120"/>
                        </a:rPr>
                        <a:t>Δ</a:t>
                      </a:r>
                      <a:endParaRPr lang="en-US" sz="1300" dirty="0">
                        <a:latin typeface="Goetheanum Schrift Laut" charset="0"/>
                        <a:ea typeface="Goetheanum Schrift Laut" charset="0"/>
                        <a:cs typeface="Goetheanum Schrift Laut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5EB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Goetheanum Schrift Klar" pitchFamily="34" charset="0"/>
                          <a:ea typeface="Goetheanum Schrift Klar" pitchFamily="34" charset="-122"/>
                          <a:cs typeface="Goetheanum Schrift Klar" pitchFamily="34" charset="-120"/>
                        </a:rPr>
                        <a:t>Bühne</a:t>
                      </a:r>
                      <a:endParaRPr lang="en-US" sz="1300" dirty="0">
                        <a:latin typeface="Goetheanum Schrift Klar" charset="0"/>
                        <a:ea typeface="Goetheanum Schrift Klar" charset="0"/>
                        <a:cs typeface="Goetheanum Schrift Klar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Goetheanum Schrift Klar" pitchFamily="34" charset="0"/>
                          <a:ea typeface="Goetheanum Schrift Klar" pitchFamily="34" charset="-122"/>
                          <a:cs typeface="Goetheanum Schrift Klar" pitchFamily="34" charset="-120"/>
                        </a:rPr>
                        <a:t>4 120</a:t>
                      </a:r>
                      <a:endParaRPr lang="en-US" sz="1300" dirty="0">
                        <a:latin typeface="Goetheanum Schrift Klar" charset="0"/>
                        <a:ea typeface="Goetheanum Schrift Klar" charset="0"/>
                        <a:cs typeface="Goetheanum Schrift Klar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Goetheanum Schrift Klar" pitchFamily="34" charset="0"/>
                          <a:ea typeface="Goetheanum Schrift Klar" pitchFamily="34" charset="-122"/>
                          <a:cs typeface="Goetheanum Schrift Klar" pitchFamily="34" charset="-120"/>
                        </a:rPr>
                        <a:t>4 380</a:t>
                      </a:r>
                      <a:endParaRPr lang="en-US" sz="1300" dirty="0">
                        <a:latin typeface="Goetheanum Schrift Klar" charset="0"/>
                        <a:ea typeface="Goetheanum Schrift Klar" charset="0"/>
                        <a:cs typeface="Goetheanum Schrift Klar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5EB8"/>
                          </a:solidFill>
                          <a:latin typeface="Goetheanum Schrift Klar" pitchFamily="34" charset="0"/>
                          <a:ea typeface="Goetheanum Schrift Klar" pitchFamily="34" charset="-122"/>
                          <a:cs typeface="Goetheanum Schrift Klar" pitchFamily="34" charset="-120"/>
                        </a:rPr>
                        <a:t>+260</a:t>
                      </a:r>
                      <a:endParaRPr lang="en-US" sz="1300" dirty="0">
                        <a:latin typeface="Goetheanum Schrift Klar" charset="0"/>
                        <a:ea typeface="Goetheanum Schrift Klar" charset="0"/>
                        <a:cs typeface="Goetheanum Schrift Klar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Goetheanum Schrift Klar" pitchFamily="34" charset="0"/>
                          <a:ea typeface="Goetheanum Schrift Klar" pitchFamily="34" charset="-122"/>
                          <a:cs typeface="Goetheanum Schrift Klar" pitchFamily="34" charset="-120"/>
                        </a:rPr>
                        <a:t>Hochschule</a:t>
                      </a:r>
                      <a:endParaRPr lang="en-US" sz="1300" dirty="0">
                        <a:latin typeface="Goetheanum Schrift Klar" charset="0"/>
                        <a:ea typeface="Goetheanum Schrift Klar" charset="0"/>
                        <a:cs typeface="Goetheanum Schrift Klar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Goetheanum Schrift Klar" pitchFamily="34" charset="0"/>
                          <a:ea typeface="Goetheanum Schrift Klar" pitchFamily="34" charset="-122"/>
                          <a:cs typeface="Goetheanum Schrift Klar" pitchFamily="34" charset="-120"/>
                        </a:rPr>
                        <a:t>2 950</a:t>
                      </a:r>
                      <a:endParaRPr lang="en-US" sz="1300" dirty="0">
                        <a:latin typeface="Goetheanum Schrift Klar" charset="0"/>
                        <a:ea typeface="Goetheanum Schrift Klar" charset="0"/>
                        <a:cs typeface="Goetheanum Schrift Klar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Goetheanum Schrift Klar" pitchFamily="34" charset="0"/>
                          <a:ea typeface="Goetheanum Schrift Klar" pitchFamily="34" charset="-122"/>
                          <a:cs typeface="Goetheanum Schrift Klar" pitchFamily="34" charset="-120"/>
                        </a:rPr>
                        <a:t>2 870</a:t>
                      </a:r>
                      <a:endParaRPr lang="en-US" sz="1300" dirty="0">
                        <a:latin typeface="Goetheanum Schrift Klar" charset="0"/>
                        <a:ea typeface="Goetheanum Schrift Klar" charset="0"/>
                        <a:cs typeface="Goetheanum Schrift Klar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6B7480"/>
                          </a:solidFill>
                          <a:latin typeface="Goetheanum Schrift Klar" pitchFamily="34" charset="0"/>
                          <a:ea typeface="Goetheanum Schrift Klar" pitchFamily="34" charset="-122"/>
                          <a:cs typeface="Goetheanum Schrift Klar" pitchFamily="34" charset="-120"/>
                        </a:rPr>
                        <a:t>–80</a:t>
                      </a:r>
                      <a:endParaRPr lang="en-US" sz="1300" dirty="0">
                        <a:latin typeface="Goetheanum Schrift Klar" charset="0"/>
                        <a:ea typeface="Goetheanum Schrift Klar" charset="0"/>
                        <a:cs typeface="Goetheanum Schrift Klar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Goetheanum Schrift Klar" pitchFamily="34" charset="0"/>
                          <a:ea typeface="Goetheanum Schrift Klar" pitchFamily="34" charset="-122"/>
                          <a:cs typeface="Goetheanum Schrift Klar" pitchFamily="34" charset="-120"/>
                        </a:rPr>
                        <a:t>Verlag und Medien</a:t>
                      </a:r>
                      <a:endParaRPr lang="en-US" sz="1300" dirty="0">
                        <a:latin typeface="Goetheanum Schrift Klar" charset="0"/>
                        <a:ea typeface="Goetheanum Schrift Klar" charset="0"/>
                        <a:cs typeface="Goetheanum Schrift Klar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Goetheanum Schrift Klar" pitchFamily="34" charset="0"/>
                          <a:ea typeface="Goetheanum Schrift Klar" pitchFamily="34" charset="-122"/>
                          <a:cs typeface="Goetheanum Schrift Klar" pitchFamily="34" charset="-120"/>
                        </a:rPr>
                        <a:t>1 410</a:t>
                      </a:r>
                      <a:endParaRPr lang="en-US" sz="1300" dirty="0">
                        <a:latin typeface="Goetheanum Schrift Klar" charset="0"/>
                        <a:ea typeface="Goetheanum Schrift Klar" charset="0"/>
                        <a:cs typeface="Goetheanum Schrift Klar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Goetheanum Schrift Klar" pitchFamily="34" charset="0"/>
                          <a:ea typeface="Goetheanum Schrift Klar" pitchFamily="34" charset="-122"/>
                          <a:cs typeface="Goetheanum Schrift Klar" pitchFamily="34" charset="-120"/>
                        </a:rPr>
                        <a:t>1 530</a:t>
                      </a:r>
                      <a:endParaRPr lang="en-US" sz="1300" dirty="0">
                        <a:latin typeface="Goetheanum Schrift Klar" charset="0"/>
                        <a:ea typeface="Goetheanum Schrift Klar" charset="0"/>
                        <a:cs typeface="Goetheanum Schrift Klar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5EB8"/>
                          </a:solidFill>
                          <a:latin typeface="Goetheanum Schrift Klar" pitchFamily="34" charset="0"/>
                          <a:ea typeface="Goetheanum Schrift Klar" pitchFamily="34" charset="-122"/>
                          <a:cs typeface="Goetheanum Schrift Klar" pitchFamily="34" charset="-120"/>
                        </a:rPr>
                        <a:t>+120</a:t>
                      </a:r>
                      <a:endParaRPr lang="en-US" sz="1300" dirty="0">
                        <a:latin typeface="Goetheanum Schrift Klar" charset="0"/>
                        <a:ea typeface="Goetheanum Schrift Klar" charset="0"/>
                        <a:cs typeface="Goetheanum Schrift Klar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Goetheanum Schrift Klar" pitchFamily="34" charset="0"/>
                          <a:ea typeface="Goetheanum Schrift Klar" pitchFamily="34" charset="-122"/>
                          <a:cs typeface="Goetheanum Schrift Klar" pitchFamily="34" charset="-120"/>
                        </a:rPr>
                        <a:t>Gebäude und Park</a:t>
                      </a:r>
                      <a:endParaRPr lang="en-US" sz="1300" dirty="0">
                        <a:latin typeface="Goetheanum Schrift Klar" charset="0"/>
                        <a:ea typeface="Goetheanum Schrift Klar" charset="0"/>
                        <a:cs typeface="Goetheanum Schrift Klar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Goetheanum Schrift Klar" pitchFamily="34" charset="0"/>
                          <a:ea typeface="Goetheanum Schrift Klar" pitchFamily="34" charset="-122"/>
                          <a:cs typeface="Goetheanum Schrift Klar" pitchFamily="34" charset="-120"/>
                        </a:rPr>
                        <a:t>3 210</a:t>
                      </a:r>
                      <a:endParaRPr lang="en-US" sz="1300" dirty="0">
                        <a:latin typeface="Goetheanum Schrift Klar" charset="0"/>
                        <a:ea typeface="Goetheanum Schrift Klar" charset="0"/>
                        <a:cs typeface="Goetheanum Schrift Klar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Goetheanum Schrift Klar" pitchFamily="34" charset="0"/>
                          <a:ea typeface="Goetheanum Schrift Klar" pitchFamily="34" charset="-122"/>
                          <a:cs typeface="Goetheanum Schrift Klar" pitchFamily="34" charset="-120"/>
                        </a:rPr>
                        <a:t>3 640</a:t>
                      </a:r>
                      <a:endParaRPr lang="en-US" sz="1300" dirty="0">
                        <a:latin typeface="Goetheanum Schrift Klar" charset="0"/>
                        <a:ea typeface="Goetheanum Schrift Klar" charset="0"/>
                        <a:cs typeface="Goetheanum Schrift Klar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5EB8"/>
                          </a:solidFill>
                          <a:latin typeface="Goetheanum Schrift Klar" pitchFamily="34" charset="0"/>
                          <a:ea typeface="Goetheanum Schrift Klar" pitchFamily="34" charset="-122"/>
                          <a:cs typeface="Goetheanum Schrift Klar" pitchFamily="34" charset="-120"/>
                        </a:rPr>
                        <a:t>+430</a:t>
                      </a:r>
                      <a:endParaRPr lang="en-US" sz="1300" dirty="0">
                        <a:latin typeface="Goetheanum Schrift Klar" charset="0"/>
                        <a:ea typeface="Goetheanum Schrift Klar" charset="0"/>
                        <a:cs typeface="Goetheanum Schrift Klar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Goetheanum Schrift Laut" pitchFamily="34" charset="0"/>
                          <a:ea typeface="Goetheanum Schrift Laut" pitchFamily="34" charset="-122"/>
                          <a:cs typeface="Goetheanum Schrift Laut" pitchFamily="34" charset="-120"/>
                        </a:rPr>
                        <a:t>Total</a:t>
                      </a:r>
                      <a:endParaRPr lang="en-US" sz="1300" dirty="0">
                        <a:latin typeface="Goetheanum Schrift Laut" charset="0"/>
                        <a:ea typeface="Goetheanum Schrift Laut" charset="0"/>
                        <a:cs typeface="Goetheanum Schrift Laut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Goetheanum Schrift Laut" pitchFamily="34" charset="0"/>
                          <a:ea typeface="Goetheanum Schrift Laut" pitchFamily="34" charset="-122"/>
                          <a:cs typeface="Goetheanum Schrift Laut" pitchFamily="34" charset="-120"/>
                        </a:rPr>
                        <a:t>11 690</a:t>
                      </a:r>
                      <a:endParaRPr lang="en-US" sz="1300" dirty="0">
                        <a:latin typeface="Goetheanum Schrift Laut" charset="0"/>
                        <a:ea typeface="Goetheanum Schrift Laut" charset="0"/>
                        <a:cs typeface="Goetheanum Schrift Laut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Goetheanum Schrift Laut" pitchFamily="34" charset="0"/>
                          <a:ea typeface="Goetheanum Schrift Laut" pitchFamily="34" charset="-122"/>
                          <a:cs typeface="Goetheanum Schrift Laut" pitchFamily="34" charset="-120"/>
                        </a:rPr>
                        <a:t>12 420</a:t>
                      </a:r>
                      <a:endParaRPr lang="en-US" sz="1300" dirty="0">
                        <a:latin typeface="Goetheanum Schrift Laut" charset="0"/>
                        <a:ea typeface="Goetheanum Schrift Laut" charset="0"/>
                        <a:cs typeface="Goetheanum Schrift Laut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5EB8"/>
                          </a:solidFill>
                          <a:latin typeface="Goetheanum Schrift Laut" pitchFamily="34" charset="0"/>
                          <a:ea typeface="Goetheanum Schrift Laut" pitchFamily="34" charset="-122"/>
                          <a:cs typeface="Goetheanum Schrift Laut" pitchFamily="34" charset="-120"/>
                        </a:rPr>
                        <a:t>+730</a:t>
                      </a:r>
                      <a:endParaRPr lang="en-US" sz="1300" dirty="0">
                        <a:latin typeface="Goetheanum Schrift Laut" charset="0"/>
                        <a:ea typeface="Goetheanum Schrift Laut" charset="0"/>
                        <a:cs typeface="Goetheanum Schrift Laut" charset="0"/>
                      </a:endParaRPr>
                    </a:p>
                  </a:txBody>
                  <a:tcPr marL="109728" marR="109728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760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Angaben in Tausend CHF, Musterzahlen.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4654296" y="6995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Titel der Präsentation · 00.00.2026 ·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goetheanum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088402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02536" y="1143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5EB8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Vor Ort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2002536" y="14630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Praktische Hinweise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2002536" y="292608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5EB8"/>
                </a:solidFill>
                <a:latin typeface="Goetheanum Icons" pitchFamily="34" charset="0"/>
                <a:ea typeface="Goetheanum Icons" pitchFamily="34" charset="-122"/>
                <a:cs typeface="Goetheanum Icons" pitchFamily="34" charset="-120"/>
              </a:rPr>
              <a:t>g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2916936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oetheanum Schrift Laut" pitchFamily="34" charset="0"/>
                <a:ea typeface="Goetheanum Schrift Laut" pitchFamily="34" charset="-122"/>
                <a:cs typeface="Goetheanum Schrift Laut" pitchFamily="34" charset="-120"/>
              </a:rPr>
              <a:t>WLAN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480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Gastzugang: Goetheanum, offen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163056" y="292608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5EB8"/>
                </a:solidFill>
                <a:latin typeface="Goetheanum Icons" pitchFamily="34" charset="0"/>
                <a:ea typeface="Goetheanum Icons" pitchFamily="34" charset="-122"/>
                <a:cs typeface="Goetheanum Icons" pitchFamily="34" charset="-120"/>
              </a:rPr>
              <a:t>a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7077456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oetheanum Schrift Laut" pitchFamily="34" charset="0"/>
                <a:ea typeface="Goetheanum Schrift Laut" pitchFamily="34" charset="-122"/>
                <a:cs typeface="Goetheanum Schrift Laut" pitchFamily="34" charset="-120"/>
              </a:rPr>
              <a:t>Lift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480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Zugang über den Westeingang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002536" y="448056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5EB8"/>
                </a:solidFill>
                <a:latin typeface="Goetheanum Icons" pitchFamily="34" charset="0"/>
                <a:ea typeface="Goetheanum Icons" pitchFamily="34" charset="-122"/>
                <a:cs typeface="Goetheanum Icons" pitchFamily="34" charset="-120"/>
              </a:rPr>
              <a:t>e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2916936" y="44805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oetheanum Schrift Laut" pitchFamily="34" charset="0"/>
                <a:ea typeface="Goetheanum Schrift Laut" pitchFamily="34" charset="-122"/>
                <a:cs typeface="Goetheanum Schrift Laut" pitchFamily="34" charset="-120"/>
              </a:rPr>
              <a:t>Eintritt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480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Frei, Kollekte am Ausgang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163056" y="448056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5EB8"/>
                </a:solidFill>
                <a:latin typeface="Goetheanum Icons" pitchFamily="34" charset="0"/>
                <a:ea typeface="Goetheanum Icons" pitchFamily="34" charset="-122"/>
                <a:cs typeface="Goetheanum Icons" pitchFamily="34" charset="-120"/>
              </a:rPr>
              <a:t>z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7077456" y="44805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oetheanum Schrift Laut" pitchFamily="34" charset="0"/>
                <a:ea typeface="Goetheanum Schrift Laut" pitchFamily="34" charset="-122"/>
                <a:cs typeface="Goetheanum Schrift Laut" pitchFamily="34" charset="-120"/>
              </a:rPr>
              <a:t>Fotografie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480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Bitte keine Aufnahmen im Saal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Piktogramme: Schrift ‹Goetheanum Icons›, Belegung im </a:t>
            </a:r>
            <a:pPr indent="0" marL="0">
              <a:buNone/>
            </a:pPr>
            <a:r>
              <a:rPr lang="en-US" sz="900" u="sng" dirty="0">
                <a:solidFill>
                  <a:srgbClr val="005EB8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‹Beipackzettel›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654296" y="6995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Titel der Präsentation · 00.00.2026 ·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goetheanum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088402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02536" y="246888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A1A1A"/>
                </a:solidFill>
                <a:latin typeface="Goetheanum Schrift Leise" pitchFamily="34" charset="0"/>
                <a:ea typeface="Goetheanum Schrift Leise" pitchFamily="34" charset="-122"/>
                <a:cs typeface="Goetheanum Schrift Leise" pitchFamily="34" charset="-120"/>
              </a:rPr>
              <a:t>Ein Zitat oder eine These steht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A1A1A"/>
                </a:solidFill>
                <a:latin typeface="Goetheanum Schrift Leise" pitchFamily="34" charset="0"/>
                <a:ea typeface="Goetheanum Schrift Leise" pitchFamily="34" charset="-122"/>
                <a:cs typeface="Goetheanum Schrift Leise" pitchFamily="34" charset="-120"/>
              </a:rPr>
              <a:t>allein auf der Folie, gesetzt in Leise,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1A1A1A"/>
                </a:solidFill>
                <a:latin typeface="Goetheanum Schrift Leise" pitchFamily="34" charset="0"/>
                <a:ea typeface="Goetheanum Schrift Leise" pitchFamily="34" charset="-122"/>
                <a:cs typeface="Goetheanum Schrift Leise" pitchFamily="34" charset="-120"/>
              </a:rPr>
              <a:t>gross, ruhig, ohne Beiwerk.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2002536" y="5029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Vorname Name, Funktion · Quelle, Jahr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654296" y="6995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Titel der Präsentation · 00.00.2026 ·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5E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goetheanu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6344"/>
            <a:ext cx="1850284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02536" y="2487168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Vielen Dank.</a:t>
            </a:r>
            <a:endParaRPr lang="en-US" sz="5000" dirty="0"/>
          </a:p>
        </p:txBody>
      </p:sp>
      <p:sp>
        <p:nvSpPr>
          <p:cNvPr id="4" name="Text 1"/>
          <p:cNvSpPr/>
          <p:nvPr/>
        </p:nvSpPr>
        <p:spPr>
          <a:xfrm>
            <a:off x="2002536" y="3712464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FD7F0"/>
                </a:solidFill>
                <a:latin typeface="Goetheanum Schrift Leise" pitchFamily="34" charset="0"/>
                <a:ea typeface="Goetheanum Schrift Leise" pitchFamily="34" charset="-122"/>
                <a:cs typeface="Goetheanum Schrift Leise" pitchFamily="34" charset="-120"/>
              </a:rPr>
              <a:t>Fragen, Unterlagen, Kontakt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6675120"/>
            <a:ext cx="9592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CC3EC"/>
                </a:solidFill>
                <a:latin typeface="Goetheanum Schrift Klar" pitchFamily="34" charset="0"/>
                <a:ea typeface="Goetheanum Schrift Klar" pitchFamily="34" charset="-122"/>
                <a:cs typeface="Goetheanum Schrift Klar" pitchFamily="34" charset="-120"/>
              </a:rPr>
              <a:t>vorname.name@goetheanum.ch · +41 61 706 42 42 · goetheanum.ch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oetheanum Schrift Kla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oetheanum Schrift Kla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Goetheanum Vorlage</dc:title>
  <dc:subject>PptxGenJS Presentation</dc:subject>
  <dc:creator>Goetheanum</dc:creator>
  <cp:lastModifiedBy>Goetheanum</cp:lastModifiedBy>
  <cp:revision>1</cp:revision>
  <dcterms:created xsi:type="dcterms:W3CDTF">2026-06-11T21:22:25Z</dcterms:created>
  <dcterms:modified xsi:type="dcterms:W3CDTF">2026-06-11T21:22:25Z</dcterms:modified>
</cp:coreProperties>
</file>