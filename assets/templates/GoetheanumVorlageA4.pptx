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Ertrag</c:v>
                </c:pt>
              </c:strCache>
            </c:strRef>
          </c:tx>
          <c:spPr>
            <a:solidFill>
              <a:srgbClr val="005E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</c:v>
                </c:pt>
                <c:pt idx="1">
                  <c:v>11.8</c:v>
                </c:pt>
                <c:pt idx="2">
                  <c:v>12.7</c:v>
                </c:pt>
                <c:pt idx="3">
                  <c:v>12.4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Aufwand</c:v>
                </c:pt>
              </c:strCache>
            </c:strRef>
          </c:tx>
          <c:spPr>
            <a:solidFill>
              <a:srgbClr val="EBB5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10.9</c:v>
                </c:pt>
                <c:pt idx="1">
                  <c:v>11.5</c:v>
                </c:pt>
                <c:pt idx="2">
                  <c:v>12.1</c:v>
                </c:pt>
                <c:pt idx="3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B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7480"/>
                </a:solidFill>
                <a:latin typeface="Goetheanum Schrift K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480"/>
              </a:solidFill>
              <a:latin typeface="Goetheanum Schrift Klar"/>
              <a:cs typeface="Goetheanum Schrift Klar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itel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"/>
            <a:ext cx="1850284" cy="3108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Trenner (blau)">
    <p:bg>
      <p:bgPr>
        <a:solidFill>
          <a:srgbClr val="005E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01</a:t>
            </a:r>
            <a:endParaRPr lang="en-US" sz="5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Inhalt eingerüc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asi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ganzseiti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0" y="0"/>
            <a:ext cx="1068933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  <p:sp>
        <p:nvSpPr>
          <p:cNvPr id="4" name="Text 0"/>
          <p:cNvSpPr/>
          <p:nvPr/>
        </p:nvSpPr>
        <p:spPr>
          <a:xfrm>
            <a:off x="4654296" y="6995160"/>
            <a:ext cx="5047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Titel der Präsentation · 00.00.2026 ·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E Bild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Goetheanu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88402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669280" y="0"/>
            <a:ext cx="5020056" cy="756208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</a:t>
            </a:r>
            <a:endParaRPr lang="en-US" sz="1300" dirty="0"/>
          </a:p>
        </p:txBody>
      </p:sp>
      <p:sp>
        <p:nvSpPr>
          <p:cNvPr id="5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05000"/>
              </a:lnSpc>
              <a:buNone/>
              <a:def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defRPr>
            </a:lvl1pPr>
          </a:lstStyle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Text zur Bildseite</a:t>
            </a:r>
            <a:endParaRPr lang="en-US" sz="13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defRPr>
            </a:lvl1pPr>
          </a:lstStyle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Bildlegende: Ort, Anlass, Fotografie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schriften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hyperlink" Target="https://werkzeuge.goetheanum.ch/assets/fonts/goetheanum/Beipackzettel-Goetheanum-Schriften.pdf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der Präsentation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Untertitel oder Anlass in einem Satz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 · Bereich · 00.00.2026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Fünf Grössen, fünf Schnitte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325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Plakat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002536" y="2286000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Zuerst das </a:t>
            </a:r>
            <a:r>
              <a:rPr lang="en-US" sz="50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Ganze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3697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Überschrift 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002536" y="3236976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Dann der tragende Gedanke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8587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Lead 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02536" y="38587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Vorspann sammelt das Wichtige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4334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Grundtext 13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02536" y="433425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Grundtext erzählt ruhig und genau.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Marginalie 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02536" y="4718304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Die Marginalie begleitet am Rand.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513892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Dicke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002536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Leise dämpft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02536" y="53766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Ruhig" pitchFamily="34" charset="0"/>
                <a:ea typeface="Goetheanum Schrift Ruhig" pitchFamily="34" charset="-122"/>
                <a:cs typeface="Goetheanum Schrift Ruhig" pitchFamily="34" charset="-120"/>
              </a:rPr>
              <a:t>Ruhig begleitet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02536" y="5614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Klar erzählt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002536" y="58521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Deutlich führt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02536" y="60899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Laut</a:t>
            </a: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 betont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002536" y="636422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In Klar-Text schaltet Strg+B auf Laut und Strg+I auf Leise.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656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Regel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02536" y="66568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Anführungen stehen in einfachen Guillemets: ‹so›. Überschriften stehen in Deutlich.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6995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Schriften installieren: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‹Download›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Vorlage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Piktogramme aus der Hausschrift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Schrift 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aut" pitchFamily="34" charset="0"/>
                <a:ea typeface="Goetheanum Schrift Laut" pitchFamily="34" charset="-122"/>
                <a:cs typeface="Goetheanum Schrift Laut" pitchFamily="34" charset="-120"/>
              </a:rPr>
              <a:t>‹Goetheanum Icons›</a:t>
            </a:r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 wählen, Buchstaben tippen.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7548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WLAN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75564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75564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249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Lift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6265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s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96265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950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Treppe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69664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x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169664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x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96512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Rollstuhl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76672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5376672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03520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Eintritt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v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10528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Gruppe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90688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k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790688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17536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Restmüll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97696" y="310896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h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997696" y="37947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24544" y="402336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Bioabfall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w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54864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Nur mit Augen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75564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q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175564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q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8249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anfassen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96265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y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296265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950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WC Damen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69664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r</a:t>
            </a:r>
            <a:endParaRPr lang="en-US" sz="3200" dirty="0"/>
          </a:p>
        </p:txBody>
      </p:sp>
      <p:sp>
        <p:nvSpPr>
          <p:cNvPr id="39" name="Text 37"/>
          <p:cNvSpPr/>
          <p:nvPr/>
        </p:nvSpPr>
        <p:spPr>
          <a:xfrm>
            <a:off x="4169664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96512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Hunde anleinen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6672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5376672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303520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Fotos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583680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t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6583680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510528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Keine Hunde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790688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u</a:t>
            </a:r>
            <a:endParaRPr lang="en-US" sz="3200" dirty="0"/>
          </a:p>
        </p:txBody>
      </p:sp>
      <p:sp>
        <p:nvSpPr>
          <p:cNvPr id="48" name="Text 46"/>
          <p:cNvSpPr/>
          <p:nvPr/>
        </p:nvSpPr>
        <p:spPr>
          <a:xfrm>
            <a:off x="7790688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7536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Draussen essen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97696" y="46634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A1A1A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j</a:t>
            </a:r>
            <a:endParaRPr lang="en-US" sz="3200" dirty="0"/>
          </a:p>
        </p:txBody>
      </p:sp>
      <p:sp>
        <p:nvSpPr>
          <p:cNvPr id="51" name="Text 49"/>
          <p:cNvSpPr/>
          <p:nvPr/>
        </p:nvSpPr>
        <p:spPr>
          <a:xfrm>
            <a:off x="8997696" y="534924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j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924544" y="5577840"/>
            <a:ext cx="1197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Papier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626364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Grossbuchstaben setzen dasselbe Zeichen mit Beschriftung. Pfeile und Kompass: Schrift ‹Goetheanum Pfeile›.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4864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Alle Zeichen, Belegung und Installation: </a:t>
            </a:r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‹Schriften und Piktogramme›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Worüber wir sprechen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788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Rückblick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das Jahr geprägt hat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60320" y="37490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Zahlen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Ergebnis, Bilanz, Entwicklung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7091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566160" y="47091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Einordnung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Was die Zahlen bedeuten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5669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56692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Ausblick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Budget und nächste Schritte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3081528" y="18288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4D90D6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1</a:t>
            </a:r>
            <a:endParaRPr lang="en-US" sz="5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3081528" y="3383280"/>
            <a:ext cx="7059168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Titel des Kapitels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3081528" y="41148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Satz, der das Kapitel öffnet.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9CC3EC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Folientitel in Deutlich 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Der Vorspann steht in Leise 18.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 fasst die Folie in zwei Zeilen.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Fliesstext steht in Klar 13, linksbündig.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Zeilen bleiben kurz: sechs bis sieben Worte.</a:t>
            </a:r>
            <a:endParaRPr lang="en-US" sz="13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Aufzählungen nur, wenn wirklich gezählt wird: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Erster Punkt, knapp formuliert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Zweiter Punkt, ohne Schachtelung</a:t>
            </a:r>
            <a:endParaRPr lang="en-US" sz="1300" dirty="0"/>
          </a:p>
          <a:p>
            <a:pPr marL="177800" indent="-177800">
              <a:lnSpc>
                <a:spcPct val="125000"/>
              </a:lnSpc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Dritter Punkt, höchstens fünf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3429000"/>
            <a:ext cx="3657600" cy="201168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37033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Merkkasten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Eine Kernaussage, die bleiben soll.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Hervorgehoben im Blau-Tint,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betont allein durch die Fette.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Zwei Spalten, ein Gedanke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Heute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Ist-Zustands.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Beide Spalten beginnen oben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auf derselben Höhe.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577840" y="2560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Morgen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577840" y="29718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Beschreibung des Ziel-Zustands.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Zwischentitel in Laut 13,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in Klar 13.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120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Fazit in einem Satz, gesetzt in Leise 18.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s Goetheanum in Dornach: die Westfassade mit dem grossen Fenster, gesehen durch blühenden Lavendel"/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995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Goetheanum, Westfassade · Foto: Goetheanum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FFFFFF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urythmie-Aufführung: eine Gruppe in fliessenden Gewändern bewegt sich in blauem Bühnenlicht"/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669280" y="0"/>
            <a:ext cx="5020056" cy="756208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Kapitel 01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3" type="title" hasCustomPrompt="1"/>
          </p:nvPr>
        </p:nvSpPr>
        <p:spPr>
          <a:xfrm>
            <a:off x="548640" y="14630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Bild und Text,</a:t>
            </a:r>
            <a:endParaRPr lang="en-US" sz="2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halb und halb</a:t>
            </a:r>
            <a:endParaRPr lang="en-US" sz="26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2834640"/>
            <a:ext cx="4480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Das Bild läuft randlos bis zur Kante.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Der Text behält seine Spaltenbreite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und seine Ruhe.</a:t>
            </a:r>
            <a:endParaRPr lang="en-US" sz="1300" dirty="0"/>
          </a:p>
        </p:txBody>
      </p:sp>
      <p:sp>
        <p:nvSpPr>
          <p:cNvPr id="6" name="Text 0"/>
          <p:cNvSpPr/>
          <p:nvPr>
            <p:ph idx="105" type="body" hasCustomPrompt="1"/>
          </p:nvPr>
        </p:nvSpPr>
        <p:spPr>
          <a:xfrm>
            <a:off x="548640" y="6995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Eurythmie-Abschlusstreffen 2025 · Foto: Xue Li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Das Jahr in vier Kennzahlen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12,4 Mio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Ertrag CHF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99232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−2,1 %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27832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zum Vorjahr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49824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86 %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78424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Eigenfinanzierung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00416" y="2743200"/>
            <a:ext cx="2240280" cy="1920240"/>
          </a:xfrm>
          <a:prstGeom prst="roundRect">
            <a:avLst>
              <a:gd name="adj" fmla="val 3810"/>
            </a:avLst>
          </a:prstGeom>
          <a:solidFill>
            <a:srgbClr val="EEF4FB"/>
          </a:solidFill>
          <a:ln/>
        </p:spPr>
      </p:sp>
      <p:sp>
        <p:nvSpPr>
          <p:cNvPr id="14" name="Text 12"/>
          <p:cNvSpPr/>
          <p:nvPr/>
        </p:nvSpPr>
        <p:spPr>
          <a:xfrm>
            <a:off x="8129016" y="3154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BB565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3,2 Mio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129016" y="3794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Spenden CHF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Musterzahlen, beim Ausfüllen ersetzen.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Entwicklung über vier Jahre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4688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223760" y="269748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Lesart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Rechts steht die Deutung: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ein bis zwei Sätze dazu,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was die Kurve erzählt.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Mio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Zahlen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463040"/>
            <a:ext cx="959205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Ergebnis nach Bereichen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9592056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700784"/>
                <a:gridCol w="1700784"/>
                <a:gridCol w="17099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Bereich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2025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2026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Δ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5EB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Bühne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4380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+260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Hochschule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2950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2870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6B7480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−80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Verlag und Medien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1410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1530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+120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Gebäude und Park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3210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3640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Klar" pitchFamily="34" charset="0"/>
                          <a:ea typeface="Goetheanum Schrift Klar" pitchFamily="34" charset="-122"/>
                          <a:cs typeface="Goetheanum Schrift Klar" pitchFamily="34" charset="-120"/>
                        </a:rPr>
                        <a:t>+430</a:t>
                      </a:r>
                      <a:endParaRPr lang="en-US" sz="1300" dirty="0">
                        <a:latin typeface="Goetheanum Schrift Klar" charset="0"/>
                        <a:ea typeface="Goetheanum Schrift Klar" charset="0"/>
                        <a:cs typeface="Goetheanum Schrift Klar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Total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11 690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12 420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5EB8"/>
                          </a:solidFill>
                          <a:latin typeface="Goetheanum Schrift Deutlich" pitchFamily="34" charset="0"/>
                          <a:ea typeface="Goetheanum Schrift Deutlich" pitchFamily="34" charset="-122"/>
                          <a:cs typeface="Goetheanum Schrift Deutlich" pitchFamily="34" charset="-120"/>
                        </a:rPr>
                        <a:t>+730</a:t>
                      </a:r>
                      <a:endParaRPr lang="en-US" sz="1300" dirty="0">
                        <a:latin typeface="Goetheanum Schrift Deutlich" charset="0"/>
                        <a:ea typeface="Goetheanum Schrift Deutlich" charset="0"/>
                        <a:cs typeface="Goetheanum Schrift Deutlich" charset="0"/>
                      </a:endParaRPr>
                    </a:p>
                  </a:txBody>
                  <a:tcPr marL="109728" marR="109728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Angaben in Tausend CHF, Musterzahlen.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560320" y="1143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 Ort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560320" y="1463040"/>
            <a:ext cx="7580376" cy="5943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Praktische Hinweise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6032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47472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WLAN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Gastzugang: Goetheanum, offen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92240" y="292608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406640" y="2926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Lift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Zugang über den Westeingang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Eintritt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Frei, Kollekte am Ausgang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4480560"/>
            <a:ext cx="777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5EB8"/>
                </a:solidFill>
                <a:latin typeface="Goetheanum Icons" pitchFamily="34" charset="0"/>
                <a:ea typeface="Goetheanum Icons" pitchFamily="34" charset="-122"/>
                <a:cs typeface="Goetheanum Icons" pitchFamily="34" charset="-120"/>
              </a:rPr>
              <a:t>z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06640" y="4480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Fotografie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Bitte keine Aufnahmen im Saal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Piktogramme: Schrift ‹Goetheanum Icons›, Belegung im </a:t>
            </a:r>
            <a:pPr indent="0" marL="0">
              <a:buNone/>
            </a:pPr>
            <a:r>
              <a:rPr lang="en-US" sz="900" dirty="0">
                <a:solidFill>
                  <a:srgbClr val="005EB8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‹Beipackzettel›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02536" y="24688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Ein Zitat oder eine These steht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allein auf der Folie, gesetzt in Leise,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1A1A1A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gross, ruhig, ohne Beiwerk.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002536" y="5029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 Name, Funktion · Quelle, Jahr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47504" y="6995160"/>
            <a:ext cx="39319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B7480"/>
                </a:solidFill>
                <a:latin typeface="Goetheanum Schrift Klar"/>
                <a:ea typeface="Goetheanum Schrift Klar"/>
                <a:cs typeface="Goetheanum Schrift Klar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2002536" y="2487168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5000" dirty="0">
                <a:solidFill>
                  <a:srgbClr val="FFFFFF"/>
                </a:solidFill>
                <a:latin typeface="Goetheanum Schrift Deutlich" pitchFamily="34" charset="0"/>
                <a:ea typeface="Goetheanum Schrift Deutlich" pitchFamily="34" charset="-122"/>
                <a:cs typeface="Goetheanum Schrift Deutlich" pitchFamily="34" charset="-120"/>
              </a:rPr>
              <a:t>Vielen Dank.</a:t>
            </a:r>
            <a:endParaRPr lang="en-US" sz="5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2002536" y="371246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600" dirty="0">
                <a:solidFill>
                  <a:srgbClr val="BFD7F0"/>
                </a:solidFill>
                <a:latin typeface="Goetheanum Schrift Leise" pitchFamily="34" charset="0"/>
                <a:ea typeface="Goetheanum Schrift Leise" pitchFamily="34" charset="-122"/>
                <a:cs typeface="Goetheanum Schrift Leise" pitchFamily="34" charset="-120"/>
              </a:rPr>
              <a:t>Fragen, Unterlagen, Kontakt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667512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300" dirty="0">
                <a:solidFill>
                  <a:srgbClr val="9CC3EC"/>
                </a:solidFill>
                <a:latin typeface="Goetheanum Schrift Klar" pitchFamily="34" charset="0"/>
                <a:ea typeface="Goetheanum Schrift Klar" pitchFamily="34" charset="-122"/>
                <a:cs typeface="Goetheanum Schrift Klar" pitchFamily="34" charset="-120"/>
              </a:rPr>
              <a:t>vorname.name@goetheanum.ch · +41 61 706 42 42 · goetheanum.ch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72B"/>
      </a:dk2>
      <a:lt2>
        <a:srgbClr val="EEF4FB"/>
      </a:lt2>
      <a:accent1>
        <a:srgbClr val="005EB8"/>
      </a:accent1>
      <a:accent2>
        <a:srgbClr val="EBB565"/>
      </a:accent2>
      <a:accent3>
        <a:srgbClr val="94702E"/>
      </a:accent3>
      <a:accent4>
        <a:srgbClr val="9CC3EC"/>
      </a:accent4>
      <a:accent5>
        <a:srgbClr val="BFD7F0"/>
      </a:accent5>
      <a:accent6>
        <a:srgbClr val="6B7177"/>
      </a:accent6>
      <a:hlink>
        <a:srgbClr val="005EB8"/>
      </a:hlink>
      <a:folHlink>
        <a:srgbClr val="94702E"/>
      </a:folHlink>
    </a:clrScheme>
    <a:fontScheme name="Office">
      <a:majorFont>
        <a:latin typeface="Goetheanum Schrift Deutlich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etheanum Schrift K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Goetheanum, Dornach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Goetheanum PowerPoint-Vorlage (A4 quer)</dc:title>
  <dc:subject>Präsentationsvorlage im Hausbild – Schrift v2.7</dc:subject>
  <dc:creator>Goetheanum</dc:creator>
  <cp:lastModifiedBy>Goetheanum</cp:lastModifiedBy>
  <cp:revision>5</cp:revision>
  <dcterms:created xsi:type="dcterms:W3CDTF">2026-07-08T19:00:25Z</dcterms:created>
  <dcterms:modified xsi:type="dcterms:W3CDTF">2026-07-08T19:00:25Z</dcterms:modified>
</cp:coreProperties>
</file>