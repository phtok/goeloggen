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0689336" cy="7562088"/>
  <p:notesSz cx="7562088" cy="1068933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Ertrag</c:v>
                </c:pt>
              </c:strCache>
            </c:strRef>
          </c:tx>
          <c:spPr>
            <a:solidFill>
              <a:srgbClr val="005E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11.2</c:v>
                </c:pt>
                <c:pt idx="1">
                  <c:v>11.8</c:v>
                </c:pt>
                <c:pt idx="2">
                  <c:v>12.7</c:v>
                </c:pt>
                <c:pt idx="3">
                  <c:v>12.4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Aufwand</c:v>
                </c:pt>
              </c:strCache>
            </c:strRef>
          </c:tx>
          <c:spPr>
            <a:solidFill>
              <a:srgbClr val="EBB56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10.9</c:v>
                </c:pt>
                <c:pt idx="1">
                  <c:v>11.5</c:v>
                </c:pt>
                <c:pt idx="2">
                  <c:v>12.1</c:v>
                </c:pt>
                <c:pt idx="3">
                  <c:v>12.6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B7480"/>
                </a:solidFill>
                <a:latin typeface="Goetheanum Schrift Kla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BF0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B7480"/>
                </a:solidFill>
                <a:latin typeface="Goetheanum Schrift Klar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480"/>
              </a:solidFill>
              <a:latin typeface="Goetheanum Schrift Klar"/>
              <a:cs typeface="Goetheanum Schrift Klar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Titel (blau)">
    <p:bg>
      <p:bgPr>
        <a:solidFill>
          <a:srgbClr val="005EB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66344"/>
            <a:ext cx="1850284" cy="310896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2002536" y="2487168"/>
            <a:ext cx="76809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5000" dirty="0">
                <a:solidFill>
                  <a:srgbClr val="FFFFFF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defRPr>
            </a:lvl1pPr>
          </a:lstStyle>
          <a:p>
            <a:pPr indent="0" marL="0">
              <a:buNone/>
            </a:pPr>
            <a:r>
              <a:rPr lang="en-US" sz="5000" dirty="0">
                <a:solidFill>
                  <a:srgbClr val="FFFFFF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Titel der Präsentation</a:t>
            </a:r>
            <a:endParaRPr lang="en-US" sz="5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2002536" y="3712464"/>
            <a:ext cx="76809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rgbClr val="BFD7F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defRPr>
            </a:lvl1pPr>
          </a:lstStyle>
          <a:p>
            <a:pPr indent="0" marL="0">
              <a:buNone/>
            </a:pPr>
            <a:r>
              <a:rPr lang="en-US" sz="2600" dirty="0">
                <a:solidFill>
                  <a:srgbClr val="BFD7F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Untertitel oder Anlass in einem Satz</a:t>
            </a:r>
            <a:endParaRPr lang="en-US" sz="2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6675120"/>
            <a:ext cx="9592056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300" dirty="0">
                <a:solidFill>
                  <a:srgbClr val="9CC3EC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300" dirty="0">
                <a:solidFill>
                  <a:srgbClr val="9CC3EC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Vorname Name · Bereich · 00.00.2026</a:t>
            </a:r>
            <a:endParaRPr lang="en-US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Trenner (blau)">
    <p:bg>
      <p:bgPr>
        <a:solidFill>
          <a:srgbClr val="005EB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54296" y="6995160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C3EC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Titel der Präsentation · 00.00.2026 ·</a:t>
            </a:r>
            <a:endParaRPr lang="en-US" sz="9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3081528" y="1828800"/>
            <a:ext cx="27432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5000" dirty="0">
                <a:solidFill>
                  <a:srgbClr val="4D90D6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defRPr>
            </a:lvl1pPr>
          </a:lstStyle>
          <a:p>
            <a:pPr indent="0" marL="0">
              <a:buNone/>
            </a:pPr>
            <a:r>
              <a:rPr lang="en-US" sz="5000" dirty="0">
                <a:solidFill>
                  <a:srgbClr val="4D90D6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01</a:t>
            </a:r>
            <a:endParaRPr lang="en-US" sz="50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3081528" y="3383280"/>
            <a:ext cx="7059168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rgbClr val="FFFFFF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defRPr>
            </a:lvl1pPr>
          </a:lstStyle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Titel des Kapitels</a:t>
            </a:r>
            <a:endParaRPr lang="en-US" sz="26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3081528" y="4114800"/>
            <a:ext cx="64008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BFD7F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BFD7F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Ein Satz, der das Kapitel öffnet.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9CC3EC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54296" y="6995160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Titel der Präsentation · 00.00.2026 ·</a:t>
            </a:r>
            <a:endParaRPr lang="en-US" sz="9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defRPr>
            </a:lvl1pPr>
          </a:lstStyle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Kapitel</a:t>
            </a:r>
            <a:endParaRPr lang="en-US" sz="13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defRPr>
            </a:lvl1pPr>
          </a:lstStyle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Folientitel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Inhalt eingerück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54296" y="6995160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Titel der Präsentation · 00.00.2026 ·</a:t>
            </a:r>
            <a:endParaRPr lang="en-US" sz="9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2560320" y="1143000"/>
            <a:ext cx="4572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defRPr>
            </a:lvl1pPr>
          </a:lstStyle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Kapitel</a:t>
            </a:r>
            <a:endParaRPr lang="en-US" sz="13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2560320" y="1463040"/>
            <a:ext cx="7580376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defRPr>
            </a:lvl1pPr>
          </a:lstStyle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Folientitel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Basi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54296" y="6995160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Titel der Präsentation · 00.00.2026 ·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Bild ganzseiti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hasCustomPrompt="1"/>
          </p:nvPr>
        </p:nvSpPr>
        <p:spPr>
          <a:xfrm>
            <a:off x="0" y="0"/>
            <a:ext cx="10689336" cy="756208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Bild einfügen</a:t>
            </a:r>
            <a:endParaRPr lang="en-US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995160"/>
            <a:ext cx="4572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900" dirty="0">
                <a:solidFill>
                  <a:srgbClr val="FFFFFF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defRPr>
            </a:lvl1pPr>
          </a:lstStyle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Bildlegende: Ort, Anlass, Fotografie</a:t>
            </a:r>
            <a:endParaRPr lang="en-US" sz="900" dirty="0"/>
          </a:p>
        </p:txBody>
      </p:sp>
      <p:sp>
        <p:nvSpPr>
          <p:cNvPr id="4" name="Text 0"/>
          <p:cNvSpPr/>
          <p:nvPr/>
        </p:nvSpPr>
        <p:spPr>
          <a:xfrm>
            <a:off x="4654296" y="6995160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Titel der Präsentation · 00.00.2026 ·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FFFFFF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Bild u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hasCustomPrompt="1"/>
          </p:nvPr>
        </p:nvSpPr>
        <p:spPr>
          <a:xfrm>
            <a:off x="5669280" y="0"/>
            <a:ext cx="5020056" cy="756208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Bild einfügen</a:t>
            </a:r>
            <a:endParaRPr lang="en-US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43000"/>
            <a:ext cx="3657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defRPr>
            </a:lvl1pPr>
          </a:lstStyle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Kapitel</a:t>
            </a:r>
            <a:endParaRPr lang="en-US" sz="1300" dirty="0"/>
          </a:p>
        </p:txBody>
      </p:sp>
      <p:sp>
        <p:nvSpPr>
          <p:cNvPr id="5" name="Text 0"/>
          <p:cNvSpPr/>
          <p:nvPr>
            <p:ph idx="103" type="title" hasCustomPrompt="1"/>
          </p:nvPr>
        </p:nvSpPr>
        <p:spPr>
          <a:xfrm>
            <a:off x="548640" y="1463040"/>
            <a:ext cx="47548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05000"/>
              </a:lnSpc>
              <a:buNone/>
              <a:def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defRPr>
            </a:lvl1pPr>
          </a:lstStyle>
          <a:p>
            <a:pPr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Bild und Text</a:t>
            </a:r>
            <a:endParaRPr lang="en-US" sz="2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48640" y="2834640"/>
            <a:ext cx="448056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30000"/>
              </a:lnSpc>
              <a:buNone/>
              <a:def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defRPr>
            </a:lvl1pPr>
          </a:lstStyle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Text zur Bildseite</a:t>
            </a:r>
            <a:endParaRPr lang="en-US" sz="13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548640" y="6995160"/>
            <a:ext cx="41148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defRPr>
            </a:lvl1pPr>
          </a:lstStyle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Bildlegende: Ort, Anlass, Fotografie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9CC3EC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hyperlink" Target="https://werkzeuge.goetheanum.ch/schriften" TargetMode="Externa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hyperlink" Target="https://werkzeuge.goetheanum.ch/schriften" TargetMode="Externa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hyperlink" Target="https://werkzeuge.goetheanum.ch/assets/fonts/goetheanum/Beipackzettel-Goetheanum-Schriften.pdf" TargetMode="Externa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2002536" y="2487168"/>
            <a:ext cx="768096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5000" dirty="0">
                <a:solidFill>
                  <a:srgbClr val="FFFFFF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Titel der Präsentation</a:t>
            </a:r>
            <a:endParaRPr lang="en-US" sz="5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2002536" y="371246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BFD7F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Untertitel oder Anlass in einem Satz</a:t>
            </a:r>
            <a:endParaRPr lang="en-US" sz="26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6675120"/>
            <a:ext cx="9592056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1300" dirty="0">
                <a:solidFill>
                  <a:srgbClr val="9CC3EC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Vorname Name · Bereich · 00.00.2026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Vorlage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Fünf Grössen, fünf Schnitte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2286000"/>
            <a:ext cx="1325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Plakat 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002536" y="2286000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dirty="0">
                <a:solidFill>
                  <a:srgbClr val="1A1A1A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Zuerst das </a:t>
            </a:r>
            <a:r>
              <a:rPr lang="en-US" sz="50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Ganze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548640" y="3236976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Überschrift 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002536" y="3236976"/>
            <a:ext cx="8138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Dann der tragende Gedanke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48640" y="38587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Lead 18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002536" y="385876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Ein Vorspann sammelt das Wichtige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433425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Grundtext 13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002536" y="4334256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Der Grundtext erzählt ruhig und genau.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471830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Marginalie 9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002536" y="4718304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Die Marginalie begleitet am Rand.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48640" y="5138928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Dicke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002536" y="51389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Leise dämpft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002536" y="53766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Ruhig" pitchFamily="34" charset="0"/>
                <a:ea typeface="Goetheanum Schrift Ruhig" pitchFamily="34" charset="-122"/>
                <a:cs typeface="Goetheanum Schrift Ruhig" pitchFamily="34" charset="-120"/>
              </a:rPr>
              <a:t>Ruhig begleitet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002536" y="5614416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Klar erzählt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002536" y="58521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Deutlich führt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002536" y="608990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Laut</a:t>
            </a: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 betont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002536" y="636422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In Klar-Text schaltet Strg+B auf Laut und Strg+I auf Leise.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48640" y="665683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Regel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002536" y="665683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Anführungen stehen in einfachen Guillemets: ‹so›. Überschriften stehen in Deutlich.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48640" y="6995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Schriften installieren: </a:t>
            </a:r>
            <a:pPr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‹Download›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Vorlage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Piktogramme aus der Hausschrift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Schrift </a:t>
            </a:r>
            <a:pPr indent="0" marL="0">
              <a:buNone/>
            </a:pPr>
            <a:r>
              <a:rPr lang="en-US" sz="1800" dirty="0">
                <a:solidFill>
                  <a:srgbClr val="6B7480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‹Goetheanum Icons›</a:t>
            </a:r>
            <a:pPr indent="0" marL="0">
              <a:buNone/>
            </a:pPr>
            <a:r>
              <a:rPr lang="en-US" sz="18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 wählen, Buchstaben tippen.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g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75488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WLAN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755648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a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1755648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682496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Lift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962656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s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2962656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889504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Treppe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169664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x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4169664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x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096512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WC Rollstuhl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376672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e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5376672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303520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Eintritt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583680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v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6583680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v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510528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WC Gruppe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790688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k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7790688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k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717536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Restmüll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997696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h</a:t>
            </a:r>
            <a:endParaRPr lang="en-US" sz="3200" dirty="0"/>
          </a:p>
        </p:txBody>
      </p:sp>
      <p:sp>
        <p:nvSpPr>
          <p:cNvPr id="27" name="Text 25"/>
          <p:cNvSpPr/>
          <p:nvPr/>
        </p:nvSpPr>
        <p:spPr>
          <a:xfrm>
            <a:off x="8997696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h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924544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Bioabfall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48640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w</a:t>
            </a:r>
            <a:endParaRPr lang="en-US" sz="3200" dirty="0"/>
          </a:p>
        </p:txBody>
      </p:sp>
      <p:sp>
        <p:nvSpPr>
          <p:cNvPr id="30" name="Text 28"/>
          <p:cNvSpPr/>
          <p:nvPr/>
        </p:nvSpPr>
        <p:spPr>
          <a:xfrm>
            <a:off x="548640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w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75488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Nur mit Augen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755648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q</a:t>
            </a:r>
            <a:endParaRPr lang="en-US" sz="3200" dirty="0"/>
          </a:p>
        </p:txBody>
      </p:sp>
      <p:sp>
        <p:nvSpPr>
          <p:cNvPr id="33" name="Text 31"/>
          <p:cNvSpPr/>
          <p:nvPr/>
        </p:nvSpPr>
        <p:spPr>
          <a:xfrm>
            <a:off x="1755648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q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682496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Bitte anfassen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962656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y</a:t>
            </a:r>
            <a:endParaRPr lang="en-US" sz="3200" dirty="0"/>
          </a:p>
        </p:txBody>
      </p:sp>
      <p:sp>
        <p:nvSpPr>
          <p:cNvPr id="36" name="Text 34"/>
          <p:cNvSpPr/>
          <p:nvPr/>
        </p:nvSpPr>
        <p:spPr>
          <a:xfrm>
            <a:off x="2962656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y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2889504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WC Damen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169664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r</a:t>
            </a:r>
            <a:endParaRPr lang="en-US" sz="3200" dirty="0"/>
          </a:p>
        </p:txBody>
      </p:sp>
      <p:sp>
        <p:nvSpPr>
          <p:cNvPr id="39" name="Text 37"/>
          <p:cNvSpPr/>
          <p:nvPr/>
        </p:nvSpPr>
        <p:spPr>
          <a:xfrm>
            <a:off x="4169664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096512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Hunde anleinen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376672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z</a:t>
            </a:r>
            <a:endParaRPr lang="en-US" sz="3200" dirty="0"/>
          </a:p>
        </p:txBody>
      </p:sp>
      <p:sp>
        <p:nvSpPr>
          <p:cNvPr id="42" name="Text 40"/>
          <p:cNvSpPr/>
          <p:nvPr/>
        </p:nvSpPr>
        <p:spPr>
          <a:xfrm>
            <a:off x="5376672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z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303520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Keine Fotos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583680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t</a:t>
            </a:r>
            <a:endParaRPr lang="en-US" sz="3200" dirty="0"/>
          </a:p>
        </p:txBody>
      </p:sp>
      <p:sp>
        <p:nvSpPr>
          <p:cNvPr id="45" name="Text 43"/>
          <p:cNvSpPr/>
          <p:nvPr/>
        </p:nvSpPr>
        <p:spPr>
          <a:xfrm>
            <a:off x="6583680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510528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Keine Hunde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7790688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u</a:t>
            </a:r>
            <a:endParaRPr lang="en-US" sz="3200" dirty="0"/>
          </a:p>
        </p:txBody>
      </p:sp>
      <p:sp>
        <p:nvSpPr>
          <p:cNvPr id="48" name="Text 46"/>
          <p:cNvSpPr/>
          <p:nvPr/>
        </p:nvSpPr>
        <p:spPr>
          <a:xfrm>
            <a:off x="7790688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u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717536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Draussen essen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8997696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j</a:t>
            </a:r>
            <a:endParaRPr lang="en-US" sz="3200" dirty="0"/>
          </a:p>
        </p:txBody>
      </p:sp>
      <p:sp>
        <p:nvSpPr>
          <p:cNvPr id="51" name="Text 49"/>
          <p:cNvSpPr/>
          <p:nvPr/>
        </p:nvSpPr>
        <p:spPr>
          <a:xfrm>
            <a:off x="8997696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j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8924544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Papier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548640" y="6263640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Grossbuchstaben setzen dasselbe Zeichen mit Beschriftung. Pfeile und Kompass: Schrift ‹Goetheanum Pfeile›.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54864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Alle Zeichen, Belegung und Installation: </a:t>
            </a:r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‹Schriften und Piktogramme›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256032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Agenda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2560320" y="1463040"/>
            <a:ext cx="758037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Worüber wir sprechen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560320" y="278892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566160" y="278892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Rückblick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Was das Jahr geprägt hat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560320" y="374904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2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3566160" y="3749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Zahlen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Ergebnis, Bilanz, Entwicklung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560320" y="47091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3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566160" y="470916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Einordnung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Was die Zahlen bedeuten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560320" y="566928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4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566160" y="566928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Ausblick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Budget und nächste Schritte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3081528" y="182880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5000" dirty="0">
                <a:solidFill>
                  <a:srgbClr val="4D90D6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1</a:t>
            </a:r>
            <a:endParaRPr lang="en-US" sz="5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3081528" y="3383280"/>
            <a:ext cx="7059168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Titel des Kapitels</a:t>
            </a:r>
            <a:endParaRPr lang="en-US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3081528" y="411480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BFD7F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Ein Satz, der das Kapitel öffnet.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9CC3EC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Kapitel 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Folientitel in Deutlich 26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Der Vorspann steht in Leise 18.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Er fasst die Folie in zwei Zeilen.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42900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Fliesstext steht in Klar 13, linksbündig.</a:t>
            </a:r>
            <a:endParaRPr lang="en-US" sz="1300" dirty="0"/>
          </a:p>
          <a:p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Zeilen bleiben kurz: sechs bis sieben Worte.</a:t>
            </a:r>
            <a:endParaRPr lang="en-US" sz="1300" dirty="0"/>
          </a:p>
          <a:p>
            <a:pPr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Aufzählungen nur, wenn wirklich gezählt wird:</a:t>
            </a:r>
            <a:endParaRPr lang="en-US" sz="1300" dirty="0"/>
          </a:p>
          <a:p>
            <a:pPr marL="177800" indent="-177800">
              <a:lnSpc>
                <a:spcPct val="125000"/>
              </a:lnSpc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Erster Punkt, knapp formuliert</a:t>
            </a:r>
            <a:endParaRPr lang="en-US" sz="1300" dirty="0"/>
          </a:p>
          <a:p>
            <a:pPr marL="177800" indent="-177800">
              <a:lnSpc>
                <a:spcPct val="125000"/>
              </a:lnSpc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Zweiter Punkt, ohne Schachtelung</a:t>
            </a:r>
            <a:endParaRPr lang="en-US" sz="1300" dirty="0"/>
          </a:p>
          <a:p>
            <a:pPr marL="177800" indent="-177800">
              <a:lnSpc>
                <a:spcPct val="125000"/>
              </a:lnSpc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Dritter Punkt, höchstens fünf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26480" y="3429000"/>
            <a:ext cx="3657600" cy="2011680"/>
          </a:xfrm>
          <a:prstGeom prst="roundRect">
            <a:avLst>
              <a:gd name="adj" fmla="val 3636"/>
            </a:avLst>
          </a:prstGeom>
          <a:solidFill>
            <a:srgbClr val="EEF4F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0" y="3703320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Merkkasten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Eine Kernaussage, die bleiben soll.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Hervorgehoben im Blau-Tint,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betont allein durch die Fette.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Kapitel 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Zwei Spalten, ein Gedanke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2560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Heute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297180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Beschreibung des Ist-Zustands.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Beide Spalten beginnen oben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auf derselben Höhe.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577840" y="2560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Morgen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577840" y="297180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Beschreibung des Ziel-Zustands.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Zwischentitel in Laut 13,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der Text in Klar 13.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51206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Fazit in einem Satz, gesetzt in Leise 18.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as Goetheanum in Dornach: die Westfassade mit dem grossen Fenster, gesehen durch blühenden Lavendel"/>
          <p:cNvPicPr>
            <a:picLocks noChangeAspect="1"/>
          </p:cNvPicPr>
          <p:nvPr>
            <p:ph idx="100" hasCustomPrompt="1"/>
          </p:nvPr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995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Goetheanum, Westfassade · Foto: Goetheanum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FFFFFF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urythmie-Aufführung: eine Gruppe in fliessenden Gewändern bewegt sich in blauem Bühnenlicht"/>
          <p:cNvPicPr>
            <a:picLocks noChangeAspect="1"/>
          </p:cNvPicPr>
          <p:nvPr>
            <p:ph idx="101" hasCustomPrompt="1"/>
          </p:nvPr>
        </p:nvPicPr>
        <p:blipFill>
          <a:blip r:embed="rId1"/>
          <a:stretch>
            <a:fillRect/>
          </a:stretch>
        </p:blipFill>
        <p:spPr>
          <a:xfrm>
            <a:off x="5669280" y="0"/>
            <a:ext cx="5020056" cy="756208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1143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Kapitel 01</a:t>
            </a:r>
            <a:endParaRPr lang="en-US" sz="1300" dirty="0"/>
          </a:p>
        </p:txBody>
      </p:sp>
      <p:sp>
        <p:nvSpPr>
          <p:cNvPr id="4" name="Text 0"/>
          <p:cNvSpPr/>
          <p:nvPr>
            <p:ph idx="103" type="title" hasCustomPrompt="1"/>
          </p:nvPr>
        </p:nvSpPr>
        <p:spPr>
          <a:xfrm>
            <a:off x="548640" y="146304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Bild und Text,</a:t>
            </a:r>
            <a:endParaRPr lang="en-US" sz="2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halb und halb</a:t>
            </a:r>
            <a:endParaRPr lang="en-US" sz="2600" dirty="0"/>
          </a:p>
        </p:txBody>
      </p:sp>
      <p:sp>
        <p:nvSpPr>
          <p:cNvPr id="5" name="Text 0"/>
          <p:cNvSpPr/>
          <p:nvPr>
            <p:ph idx="104" type="body" hasCustomPrompt="1"/>
          </p:nvPr>
        </p:nvSpPr>
        <p:spPr>
          <a:xfrm>
            <a:off x="548640" y="2834640"/>
            <a:ext cx="44805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Das Bild läuft randlos bis zur Kante.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Der Text behält seine Spaltenbreite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und seine Ruhe.</a:t>
            </a:r>
            <a:endParaRPr lang="en-US" sz="1300" dirty="0"/>
          </a:p>
        </p:txBody>
      </p:sp>
      <p:sp>
        <p:nvSpPr>
          <p:cNvPr id="6" name="Text 0"/>
          <p:cNvSpPr/>
          <p:nvPr>
            <p:ph idx="105" type="body" hasCustomPrompt="1"/>
          </p:nvPr>
        </p:nvSpPr>
        <p:spPr>
          <a:xfrm>
            <a:off x="548640" y="69951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Eurythmie-Abschlusstreffen 2025 · Foto: Xue Li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Zahlen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Das Jahr in vier Kennzahlen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74320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EEF4FB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3154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12,4 Mio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77240" y="3794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Ertrag CHF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999232" y="274320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EEF4FB"/>
          </a:solidFill>
          <a:ln/>
        </p:spPr>
      </p:sp>
      <p:sp>
        <p:nvSpPr>
          <p:cNvPr id="8" name="Text 6"/>
          <p:cNvSpPr/>
          <p:nvPr/>
        </p:nvSpPr>
        <p:spPr>
          <a:xfrm>
            <a:off x="3227832" y="3154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−2,1 %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227832" y="3794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zum Vorjahr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49824" y="274320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EEF4FB"/>
          </a:solidFill>
          <a:ln/>
        </p:spPr>
      </p:sp>
      <p:sp>
        <p:nvSpPr>
          <p:cNvPr id="11" name="Text 9"/>
          <p:cNvSpPr/>
          <p:nvPr/>
        </p:nvSpPr>
        <p:spPr>
          <a:xfrm>
            <a:off x="5678424" y="3154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86 %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678424" y="3794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Eigenfinanzierung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900416" y="274320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EEF4FB"/>
          </a:solidFill>
          <a:ln/>
        </p:spPr>
      </p:sp>
      <p:sp>
        <p:nvSpPr>
          <p:cNvPr id="14" name="Text 12"/>
          <p:cNvSpPr/>
          <p:nvPr/>
        </p:nvSpPr>
        <p:spPr>
          <a:xfrm>
            <a:off x="8129016" y="3154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BB565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3,2 Mio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8129016" y="3794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Spenden CHF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5074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Musterzahlen, beim Ausfüllen ersetzen.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Zahlen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Entwicklung über vier Jahre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2468880"/>
          <a:ext cx="621792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223760" y="2697480"/>
            <a:ext cx="2834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Lesart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Rechts steht die Deutung: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ein bis zwei Sätze dazu,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was die Kurve erzählt.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6309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Angaben in Mio CHF, Musterzahlen.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Zahlen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Ergebnis nach Bereichen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560320"/>
          <a:ext cx="9592056" cy="914400"/>
        </p:xfrm>
        <a:graphic>
          <a:graphicData uri="http://schemas.openxmlformats.org/drawingml/2006/table">
            <a:tbl>
              <a:tblPr/>
              <a:tblGrid>
                <a:gridCol w="4480560"/>
                <a:gridCol w="1700784"/>
                <a:gridCol w="1700784"/>
                <a:gridCol w="170992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Bereich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5EB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2025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5EB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2026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5EB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Δ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5EB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Bühne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4120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4380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5EB8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+260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Hochschule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2950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2870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6B7480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−80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Verlag und Medien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1410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1530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5EB8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+120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Gebäude und Park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3210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3640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5EB8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+430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Total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11 690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12 420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5EB8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+730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760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Angaben in Tausend CHF, Musterzahlen.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256032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Vor Ort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2560320" y="1463040"/>
            <a:ext cx="758037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Praktische Hinweise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560320" y="292608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5EB8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g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3474720" y="29260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WLAN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Gastzugang: Goetheanum, offen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92240" y="292608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5EB8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a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406640" y="29260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Lift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Zugang über den Westeingang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560320" y="448056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5EB8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e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3474720" y="4480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Eintritt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Frei, Kollekte am Ausgang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92240" y="448056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5EB8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z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7406640" y="4480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Fotografie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Bitte keine Aufnahmen im Saal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Piktogramme: Schrift ‹Goetheanum Icons›, Belegung im </a:t>
            </a:r>
            <a:pPr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‹Beipackzettel›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02536" y="2468880"/>
            <a:ext cx="8229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Ein Zitat oder eine These steht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allein auf der Folie, gesetzt in Leise,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gross, ruhig, ohne Beiwerk.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2002536" y="5029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Vorname Name, Funktion · Quelle, Jahr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2002536" y="2487168"/>
            <a:ext cx="768096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5000" dirty="0">
                <a:solidFill>
                  <a:srgbClr val="FFFFFF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Vielen Dank.</a:t>
            </a:r>
            <a:endParaRPr lang="en-US" sz="5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2002536" y="371246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BFD7F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Fragen, Unterlagen, Kontakt</a:t>
            </a:r>
            <a:endParaRPr lang="en-US" sz="26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6675120"/>
            <a:ext cx="9592056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1300" dirty="0">
                <a:solidFill>
                  <a:srgbClr val="9CC3EC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vorname.name@goetheanum.ch · +41 61 706 42 42 · goetheanum.ch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72B"/>
      </a:dk2>
      <a:lt2>
        <a:srgbClr val="EEF4FB"/>
      </a:lt2>
      <a:accent1>
        <a:srgbClr val="005EB8"/>
      </a:accent1>
      <a:accent2>
        <a:srgbClr val="EBB565"/>
      </a:accent2>
      <a:accent3>
        <a:srgbClr val="94702E"/>
      </a:accent3>
      <a:accent4>
        <a:srgbClr val="9CC3EC"/>
      </a:accent4>
      <a:accent5>
        <a:srgbClr val="BFD7F0"/>
      </a:accent5>
      <a:accent6>
        <a:srgbClr val="6B7177"/>
      </a:accent6>
      <a:hlink>
        <a:srgbClr val="005EB8"/>
      </a:hlink>
      <a:folHlink>
        <a:srgbClr val="94702E"/>
      </a:folHlink>
    </a:clrScheme>
    <a:fontScheme name="Office">
      <a:majorFont>
        <a:latin typeface="Goetheanum Schrift Deutlich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oetheanum Schrift Kla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Goetheanum, Dornach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Goetheanum PowerPoint-Vorlage (A4 quer)</dc:title>
  <dc:subject>Präsentationsvorlage im Hausbild – Schrift v2.7</dc:subject>
  <dc:creator>Goetheanum</dc:creator>
  <cp:lastModifiedBy>Goetheanum</cp:lastModifiedBy>
  <cp:revision>5</cp:revision>
  <dcterms:created xsi:type="dcterms:W3CDTF">2026-07-08T19:00:25Z</dcterms:created>
  <dcterms:modified xsi:type="dcterms:W3CDTF">2026-07-08T19:00:25Z</dcterms:modified>
</cp:coreProperties>
</file>